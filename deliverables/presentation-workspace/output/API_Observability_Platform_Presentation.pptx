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9231e763174510" /><Relationship Type="http://schemas.openxmlformats.org/officeDocument/2006/relationships/extended-properties" Target="/docProps/app.xml" Id="Rf8e57d5df0dd4554" /><Relationship Type="http://schemas.openxmlformats.org/officeDocument/2006/relationships/officeDocument" Target="/ppt/presentation.xml" Id="Rfca7bdcd311945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08993a57e84e8f"/>
  </p:sldMasterIdLst>
  <p:notesMasterIdLst>
    <p:notesMasterId xmlns:r="http://schemas.openxmlformats.org/officeDocument/2006/relationships" r:id="Rec3c235842be4635"/>
  </p:notesMasterIdLst>
  <p:sldIdLst>
    <p:sldId xmlns:r="http://schemas.openxmlformats.org/officeDocument/2006/relationships" id="256" r:id="Rcc910c0966424396"/>
    <p:sldId xmlns:r="http://schemas.openxmlformats.org/officeDocument/2006/relationships" id="257" r:id="R7896c22597e04082"/>
    <p:sldId xmlns:r="http://schemas.openxmlformats.org/officeDocument/2006/relationships" id="258" r:id="R04a6c59816e540cc"/>
    <p:sldId xmlns:r="http://schemas.openxmlformats.org/officeDocument/2006/relationships" id="259" r:id="Re59ea4faadb24126"/>
    <p:sldId xmlns:r="http://schemas.openxmlformats.org/officeDocument/2006/relationships" id="260" r:id="Rdbc30d311e4142b0"/>
    <p:sldId xmlns:r="http://schemas.openxmlformats.org/officeDocument/2006/relationships" id="261" r:id="R74a31816b4984e35"/>
    <p:sldId xmlns:r="http://schemas.openxmlformats.org/officeDocument/2006/relationships" id="262" r:id="R3481100802d34673"/>
    <p:sldId xmlns:r="http://schemas.openxmlformats.org/officeDocument/2006/relationships" id="263" r:id="R8e70d0552a4d4a37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08993a57e84e8f" /><Relationship Type="http://schemas.openxmlformats.org/officeDocument/2006/relationships/theme" Target="/ppt/theme/theme1.xml" Id="Rdc37c45055e241dd" /><Relationship Type="http://schemas.openxmlformats.org/officeDocument/2006/relationships/notesMaster" Target="/ppt/notesMasters/notesMaster1.xml" Id="Rec3c235842be4635" /><Relationship Type="http://schemas.openxmlformats.org/officeDocument/2006/relationships/presProps" Target="/ppt/presProps.xml" Id="R950697c06ac64013" /><Relationship Type="http://schemas.openxmlformats.org/officeDocument/2006/relationships/viewProps" Target="/ppt/viewProps.xml" Id="Rd2c3a75af3dc4059" /><Relationship Type="http://schemas.openxmlformats.org/officeDocument/2006/relationships/tableStyles" Target="/ppt/tableStyles.xml" Id="Re00372f59f7948b0" /><Relationship Type="http://schemas.openxmlformats.org/officeDocument/2006/relationships/slide" Target="/ppt/slides/slide1.xml" Id="Rcc910c0966424396" /><Relationship Type="http://schemas.openxmlformats.org/officeDocument/2006/relationships/slide" Target="/ppt/slides/slide2.xml" Id="R7896c22597e04082" /><Relationship Type="http://schemas.openxmlformats.org/officeDocument/2006/relationships/slide" Target="/ppt/slides/slide3.xml" Id="R04a6c59816e540cc" /><Relationship Type="http://schemas.openxmlformats.org/officeDocument/2006/relationships/slide" Target="/ppt/slides/slide4.xml" Id="Re59ea4faadb24126" /><Relationship Type="http://schemas.openxmlformats.org/officeDocument/2006/relationships/slide" Target="/ppt/slides/slide5.xml" Id="Rdbc30d311e4142b0" /><Relationship Type="http://schemas.openxmlformats.org/officeDocument/2006/relationships/slide" Target="/ppt/slides/slide6.xml" Id="R74a31816b4984e35" /><Relationship Type="http://schemas.openxmlformats.org/officeDocument/2006/relationships/slide" Target="/ppt/slides/slide7.xml" Id="R3481100802d34673" /><Relationship Type="http://schemas.openxmlformats.org/officeDocument/2006/relationships/slide" Target="/ppt/slides/slide8.xml" Id="R8e70d0552a4d4a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a1169d64fdd43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4b057b733a42cd" /><Relationship Type="http://schemas.openxmlformats.org/officeDocument/2006/relationships/notesMaster" Target="/ppt/notesMasters/notesMaster1.xml" Id="Re13641fdca2d4a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d0538231ed4d59" /><Relationship Type="http://schemas.openxmlformats.org/officeDocument/2006/relationships/notesMaster" Target="/ppt/notesMasters/notesMaster1.xml" Id="Rc667df158eda42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79f628c97b49e3" /><Relationship Type="http://schemas.openxmlformats.org/officeDocument/2006/relationships/notesMaster" Target="/ppt/notesMasters/notesMaster1.xml" Id="Rc4b26d51082640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a6dc2f80b84883" /><Relationship Type="http://schemas.openxmlformats.org/officeDocument/2006/relationships/notesMaster" Target="/ppt/notesMasters/notesMaster1.xml" Id="R32e2a37f3a3a44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65c161ba334254" /><Relationship Type="http://schemas.openxmlformats.org/officeDocument/2006/relationships/notesMaster" Target="/ppt/notesMasters/notesMaster1.xml" Id="R71d3b33a15944e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29fe2f2bbb4e2d" /><Relationship Type="http://schemas.openxmlformats.org/officeDocument/2006/relationships/notesMaster" Target="/ppt/notesMasters/notesMaster1.xml" Id="Ra352fa5a2f2b4b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db63a12a1274db7" /><Relationship Type="http://schemas.openxmlformats.org/officeDocument/2006/relationships/notesMaster" Target="/ppt/notesMasters/notesMaster1.xml" Id="R95be19b2f7f14d9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37850eae8b9498e" /><Relationship Type="http://schemas.openxmlformats.org/officeDocument/2006/relationships/notesMaster" Target="/ppt/notesMasters/notesMaster1.xml" Id="Ra3f6d569127348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03c74c622647c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8cce74318884ef5" /><Relationship Type="http://schemas.openxmlformats.org/officeDocument/2006/relationships/slideLayout" Target="/ppt/slideLayouts/slideLayout2.xml" Id="R6e06302629bb4b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06302629bb4b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397f66abf443f1" /><Relationship Type="http://schemas.openxmlformats.org/officeDocument/2006/relationships/notesSlide" Target="/ppt/notesSlides/notesSlide1.xml" Id="Ree406852841440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81a36df6a441b9" /><Relationship Type="http://schemas.openxmlformats.org/officeDocument/2006/relationships/notesSlide" Target="/ppt/notesSlides/notesSlide2.xml" Id="Ra892ed45c15e40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83f1d30ca147c8" /><Relationship Type="http://schemas.openxmlformats.org/officeDocument/2006/relationships/notesSlide" Target="/ppt/notesSlides/notesSlide3.xml" Id="R4d37c50fc79f4c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b6dc35161041a8" /><Relationship Type="http://schemas.openxmlformats.org/officeDocument/2006/relationships/chart" Target="/ppt/slides/charts/chart1.xml" Id="R509ff987778442b2" /><Relationship Type="http://schemas.openxmlformats.org/officeDocument/2006/relationships/notesSlide" Target="/ppt/notesSlides/notesSlide4.xml" Id="R0dc28b788e9344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d4734c60044eed" /><Relationship Type="http://schemas.openxmlformats.org/officeDocument/2006/relationships/notesSlide" Target="/ppt/notesSlides/notesSlide5.xml" Id="R3b3f45e105624a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038857917348d3" /><Relationship Type="http://schemas.openxmlformats.org/officeDocument/2006/relationships/notesSlide" Target="/ppt/notesSlides/notesSlide6.xml" Id="R6de6dce20f7c4e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0f846a083d4a0c" /><Relationship Type="http://schemas.openxmlformats.org/officeDocument/2006/relationships/chart" Target="/ppt/slides/charts/chart2.xml" Id="R35437e663cff4a11" /><Relationship Type="http://schemas.openxmlformats.org/officeDocument/2006/relationships/notesSlide" Target="/ppt/notesSlides/notesSlide7.xml" Id="R363e7451ea8940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a3e7d3c8c54aa2" /><Relationship Type="http://schemas.openxmlformats.org/officeDocument/2006/relationships/notesSlide" Target="/ppt/notesSlides/notesSlide8.xml" Id="R64df779c04b840cb" /></Relationships>
</file>

<file path=ppt/slides/charts/chart1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Latest Newman response time by endpoint</a:t>
            </a:r>
          </a:p>
        </c:rich>
      </c:tx>
      <c:overlay val="0"/>
    </c:title>
    <c:autoTitleDeleted val="0"/>
    <c:plotArea>
      <c:layout/>
      <c:barChart>
        <c:barDir val="col"/>
        <c:varyColors val="0"/>
        <c:ser>
          <c:idx val="0"/>
          <c:order val="0"/>
          <c:tx>
            <c:v>ms</c:v>
          </c:tx>
          <c:cat>
            <c:strLit>
              <c:ptCount val="4"/>
              <c:pt idx="0">
                <c:v>/health</c:v>
              </c:pt>
              <c:pt idx="1">
                <c:v>/users</c:v>
              </c:pt>
              <c:pt idx="2">
                <c:v>/posts GET</c:v>
              </c:pt>
              <c:pt idx="3">
                <c:v>/posts POST</c:v>
              </c:pt>
            </c:strLit>
          </c:cat>
          <c:val>
            <c:numLit>
              <c:formatCode/>
              <c:ptCount val="4"/>
              <c:pt idx="0">
                <c:v>35</c:v>
              </c:pt>
              <c:pt idx="1">
                <c:v>66</c:v>
              </c:pt>
              <c:pt idx="2">
                <c:v>120</c:v>
              </c:pt>
              <c:pt idx="3">
                <c:v>197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charts/chart2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Operational coverage areas</a:t>
            </a:r>
          </a:p>
        </c:rich>
      </c:tx>
      <c:overlay val="0"/>
    </c:title>
    <c:autoTitleDeleted val="0"/>
    <c:plotArea>
      <c:layout/>
      <c:barChart>
        <c:barDir val="col"/>
        <c:varyColors val="0"/>
        <c:ser>
          <c:idx val="0"/>
          <c:order val="0"/>
          <c:tx>
            <c:v>implemented</c:v>
          </c:tx>
          <c:cat>
            <c:strLit>
              <c:ptCount val="6"/>
              <c:pt idx="0">
                <c:v>API</c:v>
              </c:pt>
              <c:pt idx="1">
                <c:v>Tests</c:v>
              </c:pt>
              <c:pt idx="2">
                <c:v>Metrics</c:v>
              </c:pt>
              <c:pt idx="3">
                <c:v>Dashboard</c:v>
              </c:pt>
              <c:pt idx="4">
                <c:v>Load</c:v>
              </c:pt>
              <c:pt idx="5">
                <c:v>CI</c:v>
              </c:pt>
            </c:strLit>
          </c:cat>
          <c:val>
            <c:numLit>
              <c:formatCode/>
              <c:ptCount val="6"/>
              <c:pt idx="0">
                <c:v>100</c:v>
              </c:pt>
              <c:pt idx="1">
                <c:v>100</c:v>
              </c:pt>
              <c:pt idx="2">
                <c:v>100</c:v>
              </c:pt>
              <c:pt idx="3">
                <c:v>100</c:v>
              </c:pt>
              <c:pt idx="4">
                <c:v>85</c:v>
              </c:pt>
              <c:pt idx="5">
                <c:v>90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B5CB71-62C3-4A63-9157-8ACED6B1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5800"/>
            <a:ext cx="1524000" cy="3619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C9632B-B99F-42B5-8CC8-EFE84439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81050"/>
            <a:ext cx="1295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284C7"/>
                </a:solidFill>
              </a:defRPr>
            </a:pPr>
            <a:r>
              <a:rPr sz="1125" b="1">
                <a:solidFill>
                  <a:srgbClr val="0284C7"/>
                </a:solidFill>
              </a:rPr>
              <a:t>Express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14AD6B-599E-4E2D-B085-EE55E7D0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85800"/>
            <a:ext cx="1524000" cy="3619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55831E-AD03-45EC-A5A0-52FACFCE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781050"/>
            <a:ext cx="1295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59669"/>
                </a:solidFill>
              </a:defRPr>
            </a:pPr>
            <a:r>
              <a:rPr sz="1125" b="1">
                <a:solidFill>
                  <a:srgbClr val="059669"/>
                </a:solidFill>
              </a:rPr>
              <a:t>Prometheus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E4ECA2-D51D-470B-95F5-245F9403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85800"/>
            <a:ext cx="1524000" cy="3619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D5F9F2-A561-49EE-931D-D40AC40E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81050"/>
            <a:ext cx="1295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7706"/>
                </a:solidFill>
              </a:defRPr>
            </a:pPr>
            <a:r>
              <a:rPr sz="1125" b="1">
                <a:solidFill>
                  <a:srgbClr val="D97706"/>
                </a:solidFill>
              </a:rPr>
              <a:t>Grafana</a:t>
            </a:r>
          </a:p>
        </p:txBody>
      </p:sp>
      <p:sp>
        <p:nvSpPr>
          <p:cNvPr id="7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E7D8EC9-3449-400D-93E1-8CC43D16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14450"/>
            <a:ext cx="83629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0F172A"/>
                </a:solidFill>
              </a:defRPr>
            </a:pPr>
            <a:r>
              <a:rPr sz="6000" b="1">
                <a:solidFill>
                  <a:srgbClr val="0F172A"/>
                </a:solidFill>
              </a:rPr>
              <a:t>API Observability Platform</a:t>
            </a:r>
          </a:p>
        </p:txBody>
      </p:sp>
      <p:sp>
        <p:nvSpPr>
          <p:cNvPr id="8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6D95A0A-5795-4661-9CA5-603A095C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95550"/>
            <a:ext cx="91821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475569"/>
                </a:solidFill>
              </a:defRPr>
            </a:pPr>
            <a:r>
              <a:rPr sz="2250">
                <a:solidFill>
                  <a:srgbClr val="475569"/>
                </a:solidFill>
              </a:rPr>
              <a:t>A miniature production monitoring environment for automated API checks, SLA metrics, and DevOps-style dashboards.</a:t>
            </a:r>
          </a:p>
        </p:txBody>
      </p:sp>
      <p:sp>
        <p:nvSpPr>
          <p:cNvPr id="9" name="metric-Synthetic checks">
            <a:extLst xmlns:a="http://schemas.openxmlformats.org/drawingml/2006/main">
              <a:ext uri="{FF2B5EF4-FFF2-40B4-BE49-F238E27FC236}">
                <a16:creationId xmlns:a16="http://schemas.microsoft.com/office/drawing/2014/main" id="{A3CBD4F6-B4A1-4697-99E3-B4E6E208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7209" y="685800"/>
            <a:ext cx="6182591" cy="2669540"/>
          </a:xfrm>
          <a:prstGeom xmlns:a="http://schemas.openxmlformats.org/drawingml/2006/main" prst="roundRect">
            <a:avLst>
              <a:gd name="adj" fmla="val 6422"/>
            </a:avLst>
          </a:prstGeom>
          <a:noFill xmlns:a="http://schemas.openxmlformats.org/drawingml/2006/main"/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2A0F6B-EB8A-4DC8-B526-C528BF48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914400"/>
            <a:ext cx="56578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59669"/>
                </a:solidFill>
              </a:defRPr>
            </a:pPr>
            <a:r>
              <a:rPr sz="1125" b="1">
                <a:solidFill>
                  <a:srgbClr val="059669"/>
                </a:solidFill>
              </a:rPr>
              <a:t>SYNTHETIC CHECKS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3EE2AA-811F-4F33-9552-FB9B3CB6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1219200"/>
            <a:ext cx="56578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16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597B13-7681-4F96-AA19-875EDFD9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1905000"/>
            <a:ext cx="5657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Postman assertions</a:t>
            </a:r>
          </a:p>
        </p:txBody>
      </p:sp>
      <p:sp>
        <p:nvSpPr>
          <p:cNvPr id="13" name="metric-SLA target">
            <a:extLst xmlns:a="http://schemas.openxmlformats.org/drawingml/2006/main">
              <a:ext uri="{FF2B5EF4-FFF2-40B4-BE49-F238E27FC236}">
                <a16:creationId xmlns:a16="http://schemas.microsoft.com/office/drawing/2014/main" id="{63281FBC-2F92-44C1-B344-33AAA571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7209" y="3545840"/>
            <a:ext cx="6182591" cy="2669540"/>
          </a:xfrm>
          <a:prstGeom xmlns:a="http://schemas.openxmlformats.org/drawingml/2006/main" prst="roundRect">
            <a:avLst>
              <a:gd name="adj" fmla="val 6422"/>
            </a:avLst>
          </a:prstGeom>
          <a:noFill xmlns:a="http://schemas.openxmlformats.org/drawingml/2006/main"/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969EC4-E8AA-41D6-915F-D2898F47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771900"/>
            <a:ext cx="56578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284C7"/>
                </a:solidFill>
              </a:defRPr>
            </a:pPr>
            <a:r>
              <a:rPr sz="1125" b="1">
                <a:solidFill>
                  <a:srgbClr val="0284C7"/>
                </a:solidFill>
              </a:rPr>
              <a:t>SLA TARGET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BF1C22-67C7-4FDE-83B8-E6C5414D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076700"/>
            <a:ext cx="56578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300ms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00CCE9-6DC2-4E6A-A21D-3A753FD3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762500"/>
            <a:ext cx="5657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Response-time threshold</a:t>
            </a:r>
          </a:p>
        </p:txBody>
      </p:sp>
      <p:sp>
        <p:nvSpPr>
          <p:cNvPr id="17" name="metric-Local stack">
            <a:extLst xmlns:a="http://schemas.openxmlformats.org/drawingml/2006/main">
              <a:ext uri="{FF2B5EF4-FFF2-40B4-BE49-F238E27FC236}">
                <a16:creationId xmlns:a16="http://schemas.microsoft.com/office/drawing/2014/main" id="{494E6392-7BCE-4829-9B9B-FDD6B5AC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7209" y="6405880"/>
            <a:ext cx="6182591" cy="2669540"/>
          </a:xfrm>
          <a:prstGeom xmlns:a="http://schemas.openxmlformats.org/drawingml/2006/main" prst="roundRect">
            <a:avLst>
              <a:gd name="adj" fmla="val 6422"/>
            </a:avLst>
          </a:prstGeom>
          <a:noFill xmlns:a="http://schemas.openxmlformats.org/drawingml/2006/main"/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B8C693-4730-4F32-AD33-EF09CA86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629400"/>
            <a:ext cx="56578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7706"/>
                </a:solidFill>
              </a:defRPr>
            </a:pPr>
            <a:r>
              <a:rPr sz="1125" b="1">
                <a:solidFill>
                  <a:srgbClr val="D97706"/>
                </a:solidFill>
              </a:rPr>
              <a:t>LOCAL STACK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A6D6AE-FB93-4C96-9E86-3A4EB685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934200"/>
            <a:ext cx="56578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24073B-FCD4-4338-8E5E-C74FC4BC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7620000"/>
            <a:ext cx="5657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API, Prometheus, Grafana</a:t>
            </a:r>
          </a:p>
        </p:txBody>
      </p:sp>
      <p:sp>
        <p:nvSpPr>
          <p:cNvPr id="21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FAF7FE17-7DF4-49BD-837D-BB422E1C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10700"/>
            <a:ext cx="16611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Project report presentation | 2026</a:t>
            </a:r>
          </a:p>
        </p:txBody>
      </p:sp>
    </p:spTree>
    <p:extLst>
      <p:ext uri="{BB962C8B-B14F-4D97-AF65-F5344CB8AC3E}">
        <p14:creationId xmlns:p14="http://schemas.microsoft.com/office/powerpoint/2010/main" val="140345416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D196FD9-03B3-4514-8160-DEA04016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110680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F172A"/>
                </a:solidFill>
              </a:defRPr>
            </a:pPr>
            <a:r>
              <a:rPr sz="4650" b="1">
                <a:solidFill>
                  <a:srgbClr val="0F172A"/>
                </a:solidFill>
              </a:rPr>
              <a:t>The project behaves like a small SRE platform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7575A13-5592-4638-A764-9DB6472B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28750"/>
            <a:ext cx="11353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475569"/>
                </a:solidFill>
              </a:defRPr>
            </a:pPr>
            <a:r>
              <a:rPr sz="1875">
                <a:solidFill>
                  <a:srgbClr val="475569"/>
                </a:solidFill>
              </a:rPr>
              <a:t>It tests APIs, captures runtime telemetry, stores metrics, and visualizes operational health in a provisioned dashboard.</a:t>
            </a:r>
          </a:p>
        </p:txBody>
      </p:sp>
      <p:sp>
        <p:nvSpPr>
          <p:cNvPr id="3" name="metric-Test">
            <a:extLst xmlns:a="http://schemas.openxmlformats.org/drawingml/2006/main">
              <a:ext uri="{FF2B5EF4-FFF2-40B4-BE49-F238E27FC236}">
                <a16:creationId xmlns:a16="http://schemas.microsoft.com/office/drawing/2014/main" id="{3AE2ED52-A157-4020-94E8-DC3EB73E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70760"/>
            <a:ext cx="4152900" cy="6957060"/>
          </a:xfrm>
          <a:prstGeom xmlns:a="http://schemas.openxmlformats.org/drawingml/2006/main" prst="roundRect">
            <a:avLst>
              <a:gd name="adj" fmla="val 4128"/>
            </a:avLst>
          </a:prstGeom>
          <a:noFill xmlns:a="http://schemas.openxmlformats.org/drawingml/2006/main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0CEB57-1E16-4F46-BA0A-BCBB73D4F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95550"/>
            <a:ext cx="3619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59669"/>
                </a:solidFill>
              </a:defRPr>
            </a:pPr>
            <a:r>
              <a:rPr sz="1125" b="1">
                <a:solidFill>
                  <a:srgbClr val="059669"/>
                </a:solidFill>
              </a:rPr>
              <a:t>TEST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DBF0BE-2A17-4A26-ADD4-94C50F80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00350"/>
            <a:ext cx="3619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Postman + Jest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D7E8F9-950A-4959-AA2E-71702D32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3619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Contract, content, and SLA assertions</a:t>
            </a:r>
          </a:p>
        </p:txBody>
      </p:sp>
      <p:sp>
        <p:nvSpPr>
          <p:cNvPr id="7" name="metric-Collect">
            <a:extLst xmlns:a="http://schemas.openxmlformats.org/drawingml/2006/main">
              <a:ext uri="{FF2B5EF4-FFF2-40B4-BE49-F238E27FC236}">
                <a16:creationId xmlns:a16="http://schemas.microsoft.com/office/drawing/2014/main" id="{1C9D7810-AC09-4ABE-A68A-6A342427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70760"/>
            <a:ext cx="4152900" cy="6957060"/>
          </a:xfrm>
          <a:prstGeom xmlns:a="http://schemas.openxmlformats.org/drawingml/2006/main" prst="roundRect">
            <a:avLst>
              <a:gd name="adj" fmla="val 4128"/>
            </a:avLst>
          </a:prstGeom>
          <a:noFill xmlns:a="http://schemas.openxmlformats.org/drawingml/2006/main"/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D716C6-D445-4B2F-B90B-1EC7D424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495550"/>
            <a:ext cx="3619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284C7"/>
                </a:solidFill>
              </a:defRPr>
            </a:pPr>
            <a:r>
              <a:rPr sz="1125" b="1">
                <a:solidFill>
                  <a:srgbClr val="0284C7"/>
                </a:solidFill>
              </a:rPr>
              <a:t>COLLECT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13EB09-0AB7-44F9-812D-FD0A1C71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00350"/>
            <a:ext cx="3619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/metrics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43F968-A6A3-4CD7-9B5E-9ACDED91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486150"/>
            <a:ext cx="3619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Counters, gauges, and latency histograms</a:t>
            </a:r>
          </a:p>
        </p:txBody>
      </p:sp>
      <p:sp>
        <p:nvSpPr>
          <p:cNvPr id="11" name="metric-Observe">
            <a:extLst xmlns:a="http://schemas.openxmlformats.org/drawingml/2006/main">
              <a:ext uri="{FF2B5EF4-FFF2-40B4-BE49-F238E27FC236}">
                <a16:creationId xmlns:a16="http://schemas.microsoft.com/office/drawing/2014/main" id="{710581B5-4205-4B5E-B2C8-25CA5677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70760"/>
            <a:ext cx="4152900" cy="6957060"/>
          </a:xfrm>
          <a:prstGeom xmlns:a="http://schemas.openxmlformats.org/drawingml/2006/main" prst="roundRect">
            <a:avLst>
              <a:gd name="adj" fmla="val 4128"/>
            </a:avLst>
          </a:prstGeom>
          <a:noFill xmlns:a="http://schemas.openxmlformats.org/drawingml/2006/main"/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FBE41C-9D22-4E8E-97B6-82043773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495550"/>
            <a:ext cx="3619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7706"/>
                </a:solidFill>
              </a:defRPr>
            </a:pPr>
            <a:r>
              <a:rPr sz="1125" b="1">
                <a:solidFill>
                  <a:srgbClr val="D97706"/>
                </a:solidFill>
              </a:rPr>
              <a:t>OBSERVE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79DDD0-8850-4F59-83A5-BAF68E3B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00350"/>
            <a:ext cx="3619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Prometheus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61F2CB-585E-42D9-95A7-3F9DACAE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486150"/>
            <a:ext cx="3619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5-second scrape interval and alert rules</a:t>
            </a:r>
          </a:p>
        </p:txBody>
      </p:sp>
      <p:sp>
        <p:nvSpPr>
          <p:cNvPr id="15" name="metric-Visualize">
            <a:extLst xmlns:a="http://schemas.openxmlformats.org/drawingml/2006/main">
              <a:ext uri="{FF2B5EF4-FFF2-40B4-BE49-F238E27FC236}">
                <a16:creationId xmlns:a16="http://schemas.microsoft.com/office/drawing/2014/main" id="{4E19B3AA-B3DC-4B1F-865F-8BDA5004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2270760"/>
            <a:ext cx="4152900" cy="6957060"/>
          </a:xfrm>
          <a:prstGeom xmlns:a="http://schemas.openxmlformats.org/drawingml/2006/main" prst="roundRect">
            <a:avLst>
              <a:gd name="adj" fmla="val 4128"/>
            </a:avLst>
          </a:prstGeom>
          <a:noFill xmlns:a="http://schemas.openxmlformats.org/drawingml/2006/main"/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8E5E6B-0621-4E47-9A67-ACFACFE0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2495550"/>
            <a:ext cx="3619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11D48"/>
                </a:solidFill>
              </a:defRPr>
            </a:pPr>
            <a:r>
              <a:rPr sz="1125" b="1">
                <a:solidFill>
                  <a:srgbClr val="E11D48"/>
                </a:solidFill>
              </a:rPr>
              <a:t>VISUALIZE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0C7A6F-4041-4E59-91B6-00304D1A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2800350"/>
            <a:ext cx="3619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Grafana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88D733-B990-40D2-9EC7-DBB321B4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486150"/>
            <a:ext cx="3619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Health, performance, and reliability rows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447D628-A97B-430C-9B2C-2E93ED58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63100"/>
            <a:ext cx="1219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0">
            <a:solidFill>
              <a:srgbClr val="0284C7"/>
            </a:solidFill>
            <a:prstDash val="solid"/>
          </a:ln>
        </p:spPr>
      </p:sp>
      <p:sp>
        <p:nvSpPr>
          <p:cNvPr id="20" name="footer">
            <a:extLst xmlns:a="http://schemas.openxmlformats.org/drawingml/2006/main">
              <a:ext uri="{FF2B5EF4-FFF2-40B4-BE49-F238E27FC236}">
                <a16:creationId xmlns:a16="http://schemas.microsoft.com/office/drawing/2014/main" id="{691C0A81-FFAC-4922-91D9-DE1CC692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9486900"/>
            <a:ext cx="15182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API Observability Platform</a:t>
            </a:r>
          </a:p>
        </p:txBody>
      </p:sp>
    </p:spTree>
    <p:extLst>
      <p:ext uri="{BB962C8B-B14F-4D97-AF65-F5344CB8AC3E}">
        <p14:creationId xmlns:p14="http://schemas.microsoft.com/office/powerpoint/2010/main" val="203896406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D898B2F-B73F-461B-A01A-81F830FA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127635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F172A"/>
                </a:solidFill>
              </a:defRPr>
            </a:pPr>
            <a:r>
              <a:rPr sz="4650" b="1">
                <a:solidFill>
                  <a:srgbClr val="0F172A"/>
                </a:solidFill>
              </a:rPr>
              <a:t>Architecture: synthetic traffic becomes observability data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1E6DC85-4B45-4F59-B380-26959269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10153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475569"/>
                </a:solidFill>
              </a:defRPr>
            </a:pPr>
            <a:r>
              <a:rPr sz="1875">
                <a:solidFill>
                  <a:srgbClr val="475569"/>
                </a:solidFill>
              </a:rPr>
              <a:t>The stack keeps every layer small enough to run locally while preserving production monitoring concepts.</a:t>
            </a:r>
          </a:p>
        </p:txBody>
      </p:sp>
      <p:sp>
        <p:nvSpPr>
          <p:cNvPr id="3" name="metric-Clients">
            <a:extLst xmlns:a="http://schemas.openxmlformats.org/drawingml/2006/main">
              <a:ext uri="{FF2B5EF4-FFF2-40B4-BE49-F238E27FC236}">
                <a16:creationId xmlns:a16="http://schemas.microsoft.com/office/drawing/2014/main" id="{EE8CEE7D-1D05-442C-B6F8-55DAECB5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93670"/>
            <a:ext cx="3619976" cy="6534150"/>
          </a:xfrm>
          <a:prstGeom xmlns:a="http://schemas.openxmlformats.org/drawingml/2006/main" prst="roundRect">
            <a:avLst>
              <a:gd name="adj" fmla="val 4736"/>
            </a:avLst>
          </a:prstGeom>
          <a:noFill xmlns:a="http://schemas.openxmlformats.org/drawingml/2006/main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073BAD-8378-4045-8861-070AAC76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14650"/>
            <a:ext cx="3086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59669"/>
                </a:solidFill>
              </a:defRPr>
            </a:pPr>
            <a:r>
              <a:rPr sz="1125" b="1">
                <a:solidFill>
                  <a:srgbClr val="059669"/>
                </a:solidFill>
              </a:rPr>
              <a:t>CLIENTS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DAA660-F8F8-4BBA-917D-7839C2E8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19450"/>
            <a:ext cx="30861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Newman, Jest, k6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352D7D-DD5D-4393-8F14-B382A842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57700"/>
            <a:ext cx="3086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Synthetic and load traffic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97086D-B8EC-43F3-B65A-E8696C54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86050"/>
            <a:ext cx="361950" cy="653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284C7"/>
                </a:solidFill>
              </a:defRPr>
            </a:pPr>
            <a:r>
              <a:rPr sz="3600" b="1">
                <a:solidFill>
                  <a:srgbClr val="0284C7"/>
                </a:solidFill>
              </a:rPr>
              <a:t>-&gt;</a:t>
            </a:r>
          </a:p>
        </p:txBody>
      </p:sp>
      <p:sp>
        <p:nvSpPr>
          <p:cNvPr id="8" name="metric-API">
            <a:extLst xmlns:a="http://schemas.openxmlformats.org/drawingml/2006/main">
              <a:ext uri="{FF2B5EF4-FFF2-40B4-BE49-F238E27FC236}">
                <a16:creationId xmlns:a16="http://schemas.microsoft.com/office/drawing/2014/main" id="{D7BC8AEF-EDE6-4772-A491-F986E754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8741" y="2693670"/>
            <a:ext cx="3619976" cy="6534150"/>
          </a:xfrm>
          <a:prstGeom xmlns:a="http://schemas.openxmlformats.org/drawingml/2006/main" prst="roundRect">
            <a:avLst>
              <a:gd name="adj" fmla="val 4736"/>
            </a:avLst>
          </a:prstGeom>
          <a:noFill xmlns:a="http://schemas.openxmlformats.org/drawingml/2006/main"/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7F3542-2090-4C9C-9BEC-7F3BDC52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14650"/>
            <a:ext cx="3086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284C7"/>
                </a:solidFill>
              </a:defRPr>
            </a:pPr>
            <a:r>
              <a:rPr sz="1125" b="1">
                <a:solidFill>
                  <a:srgbClr val="0284C7"/>
                </a:solidFill>
              </a:rPr>
              <a:t>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C4B4AB-3C65-4E87-A628-A4A91172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19450"/>
            <a:ext cx="3086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Express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C11EC1-AEEC-49B9-BD41-6FBC70563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05250"/>
            <a:ext cx="3086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/users, /posts, /health, /metrics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4D7DC3-462F-4E38-96A9-F14F3D8D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86050"/>
            <a:ext cx="361950" cy="653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284C7"/>
                </a:solidFill>
              </a:defRPr>
            </a:pPr>
            <a:r>
              <a:rPr sz="3600" b="1">
                <a:solidFill>
                  <a:srgbClr val="0284C7"/>
                </a:solidFill>
              </a:rPr>
              <a:t>-&gt;</a:t>
            </a:r>
          </a:p>
        </p:txBody>
      </p:sp>
      <p:sp>
        <p:nvSpPr>
          <p:cNvPr id="13" name="metric-Metrics">
            <a:extLst xmlns:a="http://schemas.openxmlformats.org/drawingml/2006/main">
              <a:ext uri="{FF2B5EF4-FFF2-40B4-BE49-F238E27FC236}">
                <a16:creationId xmlns:a16="http://schemas.microsoft.com/office/drawing/2014/main" id="{1B3D760F-1673-483B-9455-6F802AFE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9282" y="2693670"/>
            <a:ext cx="3619976" cy="6534150"/>
          </a:xfrm>
          <a:prstGeom xmlns:a="http://schemas.openxmlformats.org/drawingml/2006/main" prst="roundRect">
            <a:avLst>
              <a:gd name="adj" fmla="val 4736"/>
            </a:avLst>
          </a:prstGeom>
          <a:noFill xmlns:a="http://schemas.openxmlformats.org/drawingml/2006/main"/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554D2B-FACF-4B7F-B768-2007FFDB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914650"/>
            <a:ext cx="3086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7706"/>
                </a:solidFill>
              </a:defRPr>
            </a:pPr>
            <a:r>
              <a:rPr sz="1125" b="1">
                <a:solidFill>
                  <a:srgbClr val="D97706"/>
                </a:solidFill>
              </a:rPr>
              <a:t>METRICS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0EDA65-264C-4B4F-B6EE-5F7DD583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219450"/>
            <a:ext cx="3086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Prometheus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522E5A-1F45-44CF-B206-EE0A777B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905250"/>
            <a:ext cx="3086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Scrapes service telemetry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304B0B-1566-4749-A2A1-5010D5A02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2686050"/>
            <a:ext cx="361950" cy="653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284C7"/>
                </a:solidFill>
              </a:defRPr>
            </a:pPr>
            <a:r>
              <a:rPr sz="3600" b="1">
                <a:solidFill>
                  <a:srgbClr val="0284C7"/>
                </a:solidFill>
              </a:rPr>
              <a:t>-&gt;</a:t>
            </a:r>
          </a:p>
        </p:txBody>
      </p:sp>
      <p:sp>
        <p:nvSpPr>
          <p:cNvPr id="18" name="metric-Dashboard">
            <a:extLst xmlns:a="http://schemas.openxmlformats.org/drawingml/2006/main">
              <a:ext uri="{FF2B5EF4-FFF2-40B4-BE49-F238E27FC236}">
                <a16:creationId xmlns:a16="http://schemas.microsoft.com/office/drawing/2014/main" id="{49078DCA-1935-4EA6-A633-81D745E8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9824" y="2693670"/>
            <a:ext cx="3619976" cy="6534150"/>
          </a:xfrm>
          <a:prstGeom xmlns:a="http://schemas.openxmlformats.org/drawingml/2006/main" prst="roundRect">
            <a:avLst>
              <a:gd name="adj" fmla="val 4736"/>
            </a:avLst>
          </a:prstGeom>
          <a:noFill xmlns:a="http://schemas.openxmlformats.org/drawingml/2006/main"/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709B3B-453C-455A-B32F-2D3D51C1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2914650"/>
            <a:ext cx="3086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11D48"/>
                </a:solidFill>
              </a:defRPr>
            </a:pPr>
            <a:r>
              <a:rPr sz="1125" b="1">
                <a:solidFill>
                  <a:srgbClr val="E11D48"/>
                </a:solidFill>
              </a:rPr>
              <a:t>DASHBOARD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D7022F-D53C-4939-A904-B67B2494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219450"/>
            <a:ext cx="3086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Grafana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70B43A-8AEB-420D-8C58-94F1B015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905250"/>
            <a:ext cx="3086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Command-center view</a:t>
            </a:r>
          </a:p>
        </p:txBody>
      </p:sp>
      <p:sp>
        <p:nvSpPr>
          <p:cNvPr id="2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88A3933-6539-4FE3-8B6C-566BC1B1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63100"/>
            <a:ext cx="1219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0">
            <a:solidFill>
              <a:srgbClr val="0284C7"/>
            </a:solidFill>
            <a:prstDash val="solid"/>
          </a:ln>
        </p:spPr>
      </p:sp>
      <p:sp>
        <p:nvSpPr>
          <p:cNvPr id="23" name="footer">
            <a:extLst xmlns:a="http://schemas.openxmlformats.org/drawingml/2006/main">
              <a:ext uri="{FF2B5EF4-FFF2-40B4-BE49-F238E27FC236}">
                <a16:creationId xmlns:a16="http://schemas.microsoft.com/office/drawing/2014/main" id="{F492BC01-7CF8-4C4F-BE98-8EF480FA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9486900"/>
            <a:ext cx="15182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API Observability Platform</a:t>
            </a:r>
          </a:p>
        </p:txBody>
      </p:sp>
    </p:spTree>
    <p:extLst>
      <p:ext uri="{BB962C8B-B14F-4D97-AF65-F5344CB8AC3E}">
        <p14:creationId xmlns:p14="http://schemas.microsoft.com/office/powerpoint/2010/main" val="15203642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5BC7F55-1E10-49CF-ADDC-E558EE03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98298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F172A"/>
                </a:solidFill>
              </a:defRPr>
            </a:pPr>
            <a:r>
              <a:rPr sz="4650" b="1">
                <a:solidFill>
                  <a:srgbClr val="0F172A"/>
                </a:solidFill>
              </a:rPr>
              <a:t>Synthetic tests act as operational checks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CE775F4-836A-49DD-9A22-8087CE09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10420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475569"/>
                </a:solidFill>
              </a:defRPr>
            </a:pPr>
            <a:r>
              <a:rPr sz="1875">
                <a:solidFill>
                  <a:srgbClr val="475569"/>
                </a:solidFill>
              </a:rPr>
              <a:t>The Postman collection is not just a request list; it validates status, schema, content, and response-time SLA.</a:t>
            </a:r>
          </a:p>
        </p:txBody>
      </p:sp>
      <p:sp>
        <p:nvSpPr>
          <p:cNvPr id="3" name="metric-Coverage">
            <a:extLst xmlns:a="http://schemas.openxmlformats.org/drawingml/2006/main">
              <a:ext uri="{FF2B5EF4-FFF2-40B4-BE49-F238E27FC236}">
                <a16:creationId xmlns:a16="http://schemas.microsoft.com/office/drawing/2014/main" id="{9CEFD539-B7FA-4DD2-908D-39C6A41E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93670"/>
            <a:ext cx="8481060" cy="2063750"/>
          </a:xfrm>
          <a:prstGeom xmlns:a="http://schemas.openxmlformats.org/drawingml/2006/main" prst="roundRect">
            <a:avLst>
              <a:gd name="adj" fmla="val 8308"/>
            </a:avLst>
          </a:prstGeom>
          <a:noFill xmlns:a="http://schemas.openxmlformats.org/drawingml/2006/main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E6AB49-374C-479D-8B35-2879C838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14650"/>
            <a:ext cx="79438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59669"/>
                </a:solidFill>
              </a:defRPr>
            </a:pPr>
            <a:r>
              <a:rPr sz="1125" b="1">
                <a:solidFill>
                  <a:srgbClr val="059669"/>
                </a:solidFill>
              </a:rPr>
              <a:t>COVERAGE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E19C1C-EB39-493E-9B64-2220DBAC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19450"/>
            <a:ext cx="79438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4 endpoints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C24D9D-D0AC-4DE5-A88D-E45DF2E7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05250"/>
            <a:ext cx="7943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GET /health, GET /users, GET /posts, POST /posts</a:t>
            </a:r>
          </a:p>
        </p:txBody>
      </p:sp>
      <p:sp>
        <p:nvSpPr>
          <p:cNvPr id="7" name="metric-Assertions">
            <a:extLst xmlns:a="http://schemas.openxmlformats.org/drawingml/2006/main">
              <a:ext uri="{FF2B5EF4-FFF2-40B4-BE49-F238E27FC236}">
                <a16:creationId xmlns:a16="http://schemas.microsoft.com/office/drawing/2014/main" id="{BFE3F2A5-3AEC-4DA5-AE31-2A747890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28870"/>
            <a:ext cx="8481060" cy="2063750"/>
          </a:xfrm>
          <a:prstGeom xmlns:a="http://schemas.openxmlformats.org/drawingml/2006/main" prst="roundRect">
            <a:avLst>
              <a:gd name="adj" fmla="val 8308"/>
            </a:avLst>
          </a:prstGeom>
          <a:noFill xmlns:a="http://schemas.openxmlformats.org/drawingml/2006/main"/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C5A67E-2516-4279-B92A-85ECE39D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62550"/>
            <a:ext cx="79438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284C7"/>
                </a:solidFill>
              </a:defRPr>
            </a:pPr>
            <a:r>
              <a:rPr sz="1125" b="1">
                <a:solidFill>
                  <a:srgbClr val="0284C7"/>
                </a:solidFill>
              </a:rPr>
              <a:t>ASSERTIONS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45A81A-BEE1-45F3-BBB2-51D7CE21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67350"/>
            <a:ext cx="79438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16 passed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5DD84D-CFA2-4FC1-95B5-53A342D5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153150"/>
            <a:ext cx="7943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Status codes, schemas, content, SLA</a:t>
            </a:r>
          </a:p>
        </p:txBody>
      </p:sp>
      <p:sp>
        <p:nvSpPr>
          <p:cNvPr id="11" name="metric-Artifacts">
            <a:extLst xmlns:a="http://schemas.openxmlformats.org/drawingml/2006/main">
              <a:ext uri="{FF2B5EF4-FFF2-40B4-BE49-F238E27FC236}">
                <a16:creationId xmlns:a16="http://schemas.microsoft.com/office/drawing/2014/main" id="{5EF5B770-1A2A-47EC-8420-1BFF233E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164070"/>
            <a:ext cx="8481060" cy="2063750"/>
          </a:xfrm>
          <a:prstGeom xmlns:a="http://schemas.openxmlformats.org/drawingml/2006/main" prst="roundRect">
            <a:avLst>
              <a:gd name="adj" fmla="val 8308"/>
            </a:avLst>
          </a:prstGeom>
          <a:noFill xmlns:a="http://schemas.openxmlformats.org/drawingml/2006/main"/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BFDDC3-5F68-4C55-A82C-1EE75133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391400"/>
            <a:ext cx="79438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7706"/>
                </a:solidFill>
              </a:defRPr>
            </a:pPr>
            <a:r>
              <a:rPr sz="1125" b="1">
                <a:solidFill>
                  <a:srgbClr val="D97706"/>
                </a:solidFill>
              </a:rPr>
              <a:t>ARTIFACTS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5FD67F-35F1-4F3B-8F49-1D4AB070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696200"/>
            <a:ext cx="79438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JSON metrics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4BF65D-8961-462D-87B2-EC89B109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382000"/>
            <a:ext cx="7943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Endpoint, method, status, latency, timestamp</a:t>
            </a:r>
          </a:p>
        </p:txBody>
      </p:sp>
      <p:graphicFrame>
        <p:nvGraphicFramePr>
          <p:cNvPr id="15" name="newman-latency-chart"/>
          <p:cNvGraphicFramePr/>
          <p:nvPr/>
        </p:nvGraphicFramePr>
        <p:xfrm>
          <a:off xmlns:a="http://schemas.openxmlformats.org/drawingml/2006/main" x="9776460" y="2693670"/>
          <a:ext xmlns:a="http://schemas.openxmlformats.org/drawingml/2006/main" cx="7673340" cy="6534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09ff987778442b2"/>
          </a:graphicData>
        </a:graphic>
      </p:graphicFrame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96B396F-A244-4461-902C-133A487C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63100"/>
            <a:ext cx="1219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0">
            <a:solidFill>
              <a:srgbClr val="0284C7"/>
            </a:solidFill>
            <a:prstDash val="solid"/>
          </a:ln>
        </p:spPr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B7AFEA01-AEA8-4031-90D4-1391410A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9486900"/>
            <a:ext cx="15182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API Observability Platform</a:t>
            </a:r>
          </a:p>
        </p:txBody>
      </p:sp>
    </p:spTree>
    <p:extLst>
      <p:ext uri="{BB962C8B-B14F-4D97-AF65-F5344CB8AC3E}">
        <p14:creationId xmlns:p14="http://schemas.microsoft.com/office/powerpoint/2010/main" val="60952669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F42669B-2701-40A3-9152-6EB90CCC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120586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F172A"/>
                </a:solidFill>
              </a:defRPr>
            </a:pPr>
            <a:r>
              <a:rPr sz="4650" b="1">
                <a:solidFill>
                  <a:srgbClr val="0F172A"/>
                </a:solidFill>
              </a:rPr>
              <a:t>Prometheus instrumentation makes API behavior measurable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2A77621-0CF3-4DE8-A214-8F669118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11029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475569"/>
                </a:solidFill>
              </a:defRPr>
            </a:pPr>
            <a:r>
              <a:rPr sz="1875">
                <a:solidFill>
                  <a:srgbClr val="475569"/>
                </a:solidFill>
              </a:rPr>
              <a:t>Express middleware turns each request into counters, latency buckets, error counts, endpoint gauges, and uptime.</a:t>
            </a:r>
          </a:p>
        </p:txBody>
      </p:sp>
      <p:sp>
        <p:nvSpPr>
          <p:cNvPr id="3" name="metric-api_request_count">
            <a:extLst xmlns:a="http://schemas.openxmlformats.org/drawingml/2006/main">
              <a:ext uri="{FF2B5EF4-FFF2-40B4-BE49-F238E27FC236}">
                <a16:creationId xmlns:a16="http://schemas.microsoft.com/office/drawing/2014/main" id="{EE7391D1-7B51-4A40-A370-7909958A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93670"/>
            <a:ext cx="8305800" cy="3267075"/>
          </a:xfrm>
          <a:prstGeom xmlns:a="http://schemas.openxmlformats.org/drawingml/2006/main" prst="roundRect">
            <a:avLst>
              <a:gd name="adj" fmla="val 5248"/>
            </a:avLst>
          </a:prstGeom>
          <a:noFill xmlns:a="http://schemas.openxmlformats.org/drawingml/2006/main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68882B-2317-49F7-888C-404A97F6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14650"/>
            <a:ext cx="7772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284C7"/>
                </a:solidFill>
              </a:defRPr>
            </a:pPr>
            <a:r>
              <a:rPr sz="1125" b="1">
                <a:solidFill>
                  <a:srgbClr val="0284C7"/>
                </a:solidFill>
              </a:rPr>
              <a:t>API_REQUEST_COUNT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267DA4-9B3B-48F7-8D88-FA1A4D84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19450"/>
            <a:ext cx="7772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volume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ADACDD-3CD0-4D01-A803-3279930D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05250"/>
            <a:ext cx="7772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Total requests by method, route, and status code</a:t>
            </a:r>
          </a:p>
        </p:txBody>
      </p:sp>
      <p:sp>
        <p:nvSpPr>
          <p:cNvPr id="7" name="metric-api_response_time_seconds">
            <a:extLst xmlns:a="http://schemas.openxmlformats.org/drawingml/2006/main">
              <a:ext uri="{FF2B5EF4-FFF2-40B4-BE49-F238E27FC236}">
                <a16:creationId xmlns:a16="http://schemas.microsoft.com/office/drawing/2014/main" id="{2245EC85-6982-4A9F-BF6B-B58A001D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93670"/>
            <a:ext cx="8305800" cy="3267075"/>
          </a:xfrm>
          <a:prstGeom xmlns:a="http://schemas.openxmlformats.org/drawingml/2006/main" prst="roundRect">
            <a:avLst>
              <a:gd name="adj" fmla="val 5248"/>
            </a:avLst>
          </a:prstGeom>
          <a:noFill xmlns:a="http://schemas.openxmlformats.org/drawingml/2006/main"/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1AF67B-6C88-4230-8988-EFB63831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14650"/>
            <a:ext cx="7772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59669"/>
                </a:solidFill>
              </a:defRPr>
            </a:pPr>
            <a:r>
              <a:rPr sz="1125" b="1">
                <a:solidFill>
                  <a:srgbClr val="059669"/>
                </a:solidFill>
              </a:rPr>
              <a:t>API_RESPONSE_TIME_SECONDS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3F7116-DB92-44F4-84E7-30C279DF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19450"/>
            <a:ext cx="7772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latency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1A702D-EE90-4EF1-B810-42E0B19B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905250"/>
            <a:ext cx="7772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Histogram used for p95 and SLA compliance</a:t>
            </a:r>
          </a:p>
        </p:txBody>
      </p:sp>
      <p:sp>
        <p:nvSpPr>
          <p:cNvPr id="11" name="metric-api_error_count">
            <a:extLst xmlns:a="http://schemas.openxmlformats.org/drawingml/2006/main">
              <a:ext uri="{FF2B5EF4-FFF2-40B4-BE49-F238E27FC236}">
                <a16:creationId xmlns:a16="http://schemas.microsoft.com/office/drawing/2014/main" id="{A401C145-7996-4A48-AF9F-E25D82DA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60745"/>
            <a:ext cx="8305800" cy="3267075"/>
          </a:xfrm>
          <a:prstGeom xmlns:a="http://schemas.openxmlformats.org/drawingml/2006/main" prst="roundRect">
            <a:avLst>
              <a:gd name="adj" fmla="val 5248"/>
            </a:avLst>
          </a:prstGeom>
          <a:noFill xmlns:a="http://schemas.openxmlformats.org/drawingml/2006/main"/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2620C5-039B-43EA-85A8-A28F66A7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191250"/>
            <a:ext cx="7772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11D48"/>
                </a:solidFill>
              </a:defRPr>
            </a:pPr>
            <a:r>
              <a:rPr sz="1125" b="1">
                <a:solidFill>
                  <a:srgbClr val="E11D48"/>
                </a:solidFill>
              </a:rPr>
              <a:t>API_ERROR_COUNT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B54D41-B2CF-4F5D-9EC2-E1DEE482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496050"/>
            <a:ext cx="7772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reliability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19180A-7C03-459A-A5A1-7B98CF63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181850"/>
            <a:ext cx="7772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Error-rate source for failed request panels</a:t>
            </a:r>
          </a:p>
        </p:txBody>
      </p:sp>
      <p:sp>
        <p:nvSpPr>
          <p:cNvPr id="15" name="metric-api_endpoint_latency_ms">
            <a:extLst xmlns:a="http://schemas.openxmlformats.org/drawingml/2006/main">
              <a:ext uri="{FF2B5EF4-FFF2-40B4-BE49-F238E27FC236}">
                <a16:creationId xmlns:a16="http://schemas.microsoft.com/office/drawing/2014/main" id="{47991CD0-9871-4B14-927E-BE18AFCC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960745"/>
            <a:ext cx="8305800" cy="3267075"/>
          </a:xfrm>
          <a:prstGeom xmlns:a="http://schemas.openxmlformats.org/drawingml/2006/main" prst="roundRect">
            <a:avLst>
              <a:gd name="adj" fmla="val 5248"/>
            </a:avLst>
          </a:prstGeom>
          <a:noFill xmlns:a="http://schemas.openxmlformats.org/drawingml/2006/main"/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30FF6E-E245-4C6C-B47D-46DB62FB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191250"/>
            <a:ext cx="7772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7706"/>
                </a:solidFill>
              </a:defRPr>
            </a:pPr>
            <a:r>
              <a:rPr sz="1125" b="1">
                <a:solidFill>
                  <a:srgbClr val="D97706"/>
                </a:solidFill>
              </a:rPr>
              <a:t>API_ENDPOINT_LATENCY_MS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B645C8-3A0B-4B42-850F-6A2BA5B9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96050"/>
            <a:ext cx="7772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freshness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7F22D1-B6C4-4D9C-A96B-5CEAE43D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7181850"/>
            <a:ext cx="7772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Last observed endpoint latency comparison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2DD5326-C0D5-428A-BEDA-D8CFD864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63100"/>
            <a:ext cx="1219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0">
            <a:solidFill>
              <a:srgbClr val="0284C7"/>
            </a:solidFill>
            <a:prstDash val="solid"/>
          </a:ln>
        </p:spPr>
      </p:sp>
      <p:sp>
        <p:nvSpPr>
          <p:cNvPr id="20" name="footer">
            <a:extLst xmlns:a="http://schemas.openxmlformats.org/drawingml/2006/main">
              <a:ext uri="{FF2B5EF4-FFF2-40B4-BE49-F238E27FC236}">
                <a16:creationId xmlns:a16="http://schemas.microsoft.com/office/drawing/2014/main" id="{40DF3DCA-9423-4024-A70F-6559A07E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9486900"/>
            <a:ext cx="15182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API Observability Platform</a:t>
            </a:r>
          </a:p>
        </p:txBody>
      </p:sp>
    </p:spTree>
    <p:extLst>
      <p:ext uri="{BB962C8B-B14F-4D97-AF65-F5344CB8AC3E}">
        <p14:creationId xmlns:p14="http://schemas.microsoft.com/office/powerpoint/2010/main" val="109852975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F543E3A-018B-4BBE-8BC7-C3E6E73B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119824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F172A"/>
                </a:solidFill>
              </a:defRPr>
            </a:pPr>
            <a:r>
              <a:rPr sz="4650" b="1">
                <a:solidFill>
                  <a:srgbClr val="0F172A"/>
                </a:solidFill>
              </a:rPr>
              <a:t>Grafana dashboard is organized by SRE questions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ADAD8BA-6E49-4CA7-9D15-F253D64F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28750"/>
            <a:ext cx="76962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475569"/>
                </a:solidFill>
              </a:defRPr>
            </a:pPr>
            <a:r>
              <a:rPr sz="1875">
                <a:solidFill>
                  <a:srgbClr val="475569"/>
                </a:solidFill>
              </a:rPr>
              <a:t>Three rows separate the live read: health first, performance next, reliability last.</a:t>
            </a:r>
          </a:p>
        </p:txBody>
      </p:sp>
      <p:sp>
        <p:nvSpPr>
          <p:cNvPr id="3" name="metric-Row 1">
            <a:extLst xmlns:a="http://schemas.openxmlformats.org/drawingml/2006/main">
              <a:ext uri="{FF2B5EF4-FFF2-40B4-BE49-F238E27FC236}">
                <a16:creationId xmlns:a16="http://schemas.microsoft.com/office/drawing/2014/main" id="{03C74787-D47D-45C5-9A61-20ABE4A9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70760"/>
            <a:ext cx="5537200" cy="6957060"/>
          </a:xfrm>
          <a:prstGeom xmlns:a="http://schemas.openxmlformats.org/drawingml/2006/main" prst="roundRect">
            <a:avLst>
              <a:gd name="adj" fmla="val 3096"/>
            </a:avLst>
          </a:prstGeom>
          <a:noFill xmlns:a="http://schemas.openxmlformats.org/drawingml/2006/main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5C9D42-F29C-4805-8B0D-6C1A98BA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95550"/>
            <a:ext cx="50101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59669"/>
                </a:solidFill>
              </a:defRPr>
            </a:pPr>
            <a:r>
              <a:rPr sz="1125" b="1">
                <a:solidFill>
                  <a:srgbClr val="059669"/>
                </a:solidFill>
              </a:rPr>
              <a:t>ROW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B6C1C2-8BFF-47AD-A3AB-8168CA43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00350"/>
            <a:ext cx="5010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System Health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276E5D-79E6-4A50-9E4B-1A4F3B6E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5010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Uptime, average latency, total requests, SLA compliance</a:t>
            </a:r>
          </a:p>
        </p:txBody>
      </p:sp>
      <p:sp>
        <p:nvSpPr>
          <p:cNvPr id="7" name="metric-Row 2">
            <a:extLst xmlns:a="http://schemas.openxmlformats.org/drawingml/2006/main">
              <a:ext uri="{FF2B5EF4-FFF2-40B4-BE49-F238E27FC236}">
                <a16:creationId xmlns:a16="http://schemas.microsoft.com/office/drawing/2014/main" id="{85DD617F-1015-4A7C-9AA2-9E304F0C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400" y="2270760"/>
            <a:ext cx="5537200" cy="6957060"/>
          </a:xfrm>
          <a:prstGeom xmlns:a="http://schemas.openxmlformats.org/drawingml/2006/main" prst="roundRect">
            <a:avLst>
              <a:gd name="adj" fmla="val 3096"/>
            </a:avLst>
          </a:prstGeom>
          <a:noFill xmlns:a="http://schemas.openxmlformats.org/drawingml/2006/main"/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F6BC68-5509-4F31-BB27-1486A6FF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95550"/>
            <a:ext cx="50101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284C7"/>
                </a:solidFill>
              </a:defRPr>
            </a:pPr>
            <a:r>
              <a:rPr sz="1125" b="1">
                <a:solidFill>
                  <a:srgbClr val="0284C7"/>
                </a:solidFill>
              </a:rPr>
              <a:t>ROW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B4EBB0-3AD7-4137-9301-F01EE0B3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00350"/>
            <a:ext cx="5010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Performance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6B2E6B-CE7D-4BAA-9E29-171C0A25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486150"/>
            <a:ext cx="5010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Response trend, endpoint comparison, requests/sec</a:t>
            </a:r>
          </a:p>
        </p:txBody>
      </p:sp>
      <p:sp>
        <p:nvSpPr>
          <p:cNvPr id="11" name="metric-Row 3">
            <a:extLst xmlns:a="http://schemas.openxmlformats.org/drawingml/2006/main">
              <a:ext uri="{FF2B5EF4-FFF2-40B4-BE49-F238E27FC236}">
                <a16:creationId xmlns:a16="http://schemas.microsoft.com/office/drawing/2014/main" id="{D4180B5C-A91B-48A2-9DCE-A18B6C2D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2600" y="2270760"/>
            <a:ext cx="5537200" cy="6957060"/>
          </a:xfrm>
          <a:prstGeom xmlns:a="http://schemas.openxmlformats.org/drawingml/2006/main" prst="roundRect">
            <a:avLst>
              <a:gd name="adj" fmla="val 3096"/>
            </a:avLst>
          </a:prstGeom>
          <a:noFill xmlns:a="http://schemas.openxmlformats.org/drawingml/2006/main"/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7047E7-653F-43B5-AE24-A7B3A134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2495550"/>
            <a:ext cx="50101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11D48"/>
                </a:solidFill>
              </a:defRPr>
            </a:pPr>
            <a:r>
              <a:rPr sz="1125" b="1">
                <a:solidFill>
                  <a:srgbClr val="E11D48"/>
                </a:solidFill>
              </a:rPr>
              <a:t>ROW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6B3C29-57E7-413F-8B33-C3B12EA8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2800350"/>
            <a:ext cx="5010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Reliability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3E442C-1679-4913-A536-51723430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486150"/>
            <a:ext cx="5010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Error rate, failed requests, recent failures table</a:t>
            </a:r>
          </a:p>
        </p:txBody>
      </p:sp>
      <p:sp>
        <p:nvSpPr>
          <p:cNvPr id="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3F07A0D-3C18-4F1E-8B22-BED2F589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63100"/>
            <a:ext cx="1219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0">
            <a:solidFill>
              <a:srgbClr val="0284C7"/>
            </a:solidFill>
            <a:prstDash val="solid"/>
          </a:ln>
        </p:spPr>
      </p:sp>
      <p:sp>
        <p:nvSpPr>
          <p:cNvPr id="16" name="footer">
            <a:extLst xmlns:a="http://schemas.openxmlformats.org/drawingml/2006/main">
              <a:ext uri="{FF2B5EF4-FFF2-40B4-BE49-F238E27FC236}">
                <a16:creationId xmlns:a16="http://schemas.microsoft.com/office/drawing/2014/main" id="{DA7B6095-176E-4E20-A8F3-CFC40B9A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9486900"/>
            <a:ext cx="15182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API Observability Platform</a:t>
            </a:r>
          </a:p>
        </p:txBody>
      </p:sp>
    </p:spTree>
    <p:extLst>
      <p:ext uri="{BB962C8B-B14F-4D97-AF65-F5344CB8AC3E}">
        <p14:creationId xmlns:p14="http://schemas.microsoft.com/office/powerpoint/2010/main" val="132579182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666D513-84D5-46DD-AA5E-1B4631C6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105727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F172A"/>
                </a:solidFill>
              </a:defRPr>
            </a:pPr>
            <a:r>
              <a:rPr sz="4650" b="1">
                <a:solidFill>
                  <a:srgbClr val="0F172A"/>
                </a:solidFill>
              </a:rPr>
              <a:t>Docker Compose turns the repo into a local observability lab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678F7F4-D82D-4DDA-AEEC-4BD3EA15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10553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475569"/>
                </a:solidFill>
              </a:defRPr>
            </a:pPr>
            <a:r>
              <a:rPr sz="1875">
                <a:solidFill>
                  <a:srgbClr val="475569"/>
                </a:solidFill>
              </a:rPr>
              <a:t>One command starts the API, Prometheus, and Grafana with provisioned dashboards and persistent volumes.</a:t>
            </a:r>
          </a:p>
        </p:txBody>
      </p:sp>
      <p:sp>
        <p:nvSpPr>
          <p:cNvPr id="3" name="metric-Startup">
            <a:extLst xmlns:a="http://schemas.openxmlformats.org/drawingml/2006/main">
              <a:ext uri="{FF2B5EF4-FFF2-40B4-BE49-F238E27FC236}">
                <a16:creationId xmlns:a16="http://schemas.microsoft.com/office/drawing/2014/main" id="{9BCF0CCE-7B85-4A32-B86C-334F4B25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93670"/>
            <a:ext cx="8105775" cy="2063750"/>
          </a:xfrm>
          <a:prstGeom xmlns:a="http://schemas.openxmlformats.org/drawingml/2006/main" prst="roundRect">
            <a:avLst>
              <a:gd name="adj" fmla="val 8308"/>
            </a:avLst>
          </a:prstGeom>
          <a:noFill xmlns:a="http://schemas.openxmlformats.org/drawingml/2006/main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CA5906-70C6-4D15-B467-02D0B4D9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14650"/>
            <a:ext cx="7581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59669"/>
                </a:solidFill>
              </a:defRPr>
            </a:pPr>
            <a:r>
              <a:rPr sz="1125" b="1">
                <a:solidFill>
                  <a:srgbClr val="059669"/>
                </a:solidFill>
              </a:rPr>
              <a:t>STARTUP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8FE62B-7D74-431C-8A65-B38A3F41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19450"/>
            <a:ext cx="7581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docker compose up --build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5FF696-5EF6-449E-980F-D828A90F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05250"/>
            <a:ext cx="7581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Single-command local stack</a:t>
            </a:r>
          </a:p>
        </p:txBody>
      </p:sp>
      <p:sp>
        <p:nvSpPr>
          <p:cNvPr id="7" name="metric-CI">
            <a:extLst xmlns:a="http://schemas.openxmlformats.org/drawingml/2006/main">
              <a:ext uri="{FF2B5EF4-FFF2-40B4-BE49-F238E27FC236}">
                <a16:creationId xmlns:a16="http://schemas.microsoft.com/office/drawing/2014/main" id="{20914B03-A611-441C-AA99-19569C53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28870"/>
            <a:ext cx="8105775" cy="2063750"/>
          </a:xfrm>
          <a:prstGeom xmlns:a="http://schemas.openxmlformats.org/drawingml/2006/main" prst="roundRect">
            <a:avLst>
              <a:gd name="adj" fmla="val 8308"/>
            </a:avLst>
          </a:prstGeom>
          <a:noFill xmlns:a="http://schemas.openxmlformats.org/drawingml/2006/main"/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E54BE2-E8D5-4756-96DA-3CE746C2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62550"/>
            <a:ext cx="7581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284C7"/>
                </a:solidFill>
              </a:defRPr>
            </a:pPr>
            <a:r>
              <a:rPr sz="1125" b="1">
                <a:solidFill>
                  <a:srgbClr val="0284C7"/>
                </a:solidFill>
              </a:rPr>
              <a:t>CI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4A1F03-6F0D-4491-93FD-1ACB69EF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67350"/>
            <a:ext cx="7581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GitHub 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0A2339-FAAD-4219-9C2C-16E12D54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153150"/>
            <a:ext cx="7581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Jest checks and Docker smoke test</a:t>
            </a:r>
          </a:p>
        </p:txBody>
      </p:sp>
      <p:sp>
        <p:nvSpPr>
          <p:cNvPr id="11" name="metric-Load">
            <a:extLst xmlns:a="http://schemas.openxmlformats.org/drawingml/2006/main">
              <a:ext uri="{FF2B5EF4-FFF2-40B4-BE49-F238E27FC236}">
                <a16:creationId xmlns:a16="http://schemas.microsoft.com/office/drawing/2014/main" id="{DC9AE90A-F7AA-4046-ABAF-BDD7D010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164070"/>
            <a:ext cx="8105775" cy="2063750"/>
          </a:xfrm>
          <a:prstGeom xmlns:a="http://schemas.openxmlformats.org/drawingml/2006/main" prst="roundRect">
            <a:avLst>
              <a:gd name="adj" fmla="val 8308"/>
            </a:avLst>
          </a:prstGeom>
          <a:noFill xmlns:a="http://schemas.openxmlformats.org/drawingml/2006/main"/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1113A2-C906-4EDA-B42D-0E0B555E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391400"/>
            <a:ext cx="7581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7706"/>
                </a:solidFill>
              </a:defRPr>
            </a:pPr>
            <a:r>
              <a:rPr sz="1125" b="1">
                <a:solidFill>
                  <a:srgbClr val="D97706"/>
                </a:solidFill>
              </a:rPr>
              <a:t>LOAD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91D2A6-F364-4F6A-9E67-63AEDBDA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696200"/>
            <a:ext cx="7581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k6 stress + spike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77A2E2-B93A-4274-AEF4-708A3AEB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382000"/>
            <a:ext cx="7581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Traffic patterns visible in Grafana</a:t>
            </a:r>
          </a:p>
        </p:txBody>
      </p:sp>
      <p:graphicFrame>
        <p:nvGraphicFramePr>
          <p:cNvPr id="15" name="stack-chart"/>
          <p:cNvGraphicFramePr/>
          <p:nvPr/>
        </p:nvGraphicFramePr>
        <p:xfrm>
          <a:off xmlns:a="http://schemas.openxmlformats.org/drawingml/2006/main" x="9344025" y="2693670"/>
          <a:ext xmlns:a="http://schemas.openxmlformats.org/drawingml/2006/main" cx="8105775" cy="6534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5437e663cff4a11"/>
          </a:graphicData>
        </a:graphic>
      </p:graphicFrame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F915506-EFDC-4E0D-AFCE-1B9C1185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63100"/>
            <a:ext cx="1219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0">
            <a:solidFill>
              <a:srgbClr val="0284C7"/>
            </a:solidFill>
            <a:prstDash val="solid"/>
          </a:ln>
        </p:spPr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43027F26-EB3A-4021-8D04-AA131B96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9486900"/>
            <a:ext cx="15182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API Observability Platform</a:t>
            </a:r>
          </a:p>
        </p:txBody>
      </p:sp>
    </p:spTree>
    <p:extLst>
      <p:ext uri="{BB962C8B-B14F-4D97-AF65-F5344CB8AC3E}">
        <p14:creationId xmlns:p14="http://schemas.microsoft.com/office/powerpoint/2010/main" val="169831931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376CB6-9130-4F20-9B98-0363CAC5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60198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F172A"/>
                </a:solidFill>
              </a:defRPr>
            </a:pPr>
            <a:r>
              <a:rPr sz="4650" b="1">
                <a:solidFill>
                  <a:srgbClr val="0F172A"/>
                </a:solidFill>
              </a:rPr>
              <a:t>What this project proves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B8CFDB1-F9D7-48A7-B92C-CF10DEF8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119824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475569"/>
                </a:solidFill>
              </a:defRPr>
            </a:pPr>
            <a:r>
              <a:rPr sz="1875">
                <a:solidFill>
                  <a:srgbClr val="475569"/>
                </a:solidFill>
              </a:rPr>
              <a:t>A compact codebase can still demonstrate realistic reliability engineering: instrumentation, automated checks, observability, dashboards, and operational readiness.</a:t>
            </a:r>
          </a:p>
        </p:txBody>
      </p:sp>
      <p:sp>
        <p:nvSpPr>
          <p:cNvPr id="3" name="metric-Validated">
            <a:extLst xmlns:a="http://schemas.openxmlformats.org/drawingml/2006/main">
              <a:ext uri="{FF2B5EF4-FFF2-40B4-BE49-F238E27FC236}">
                <a16:creationId xmlns:a16="http://schemas.microsoft.com/office/drawing/2014/main" id="{41DD7310-64F8-4689-A3B7-87571029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9420"/>
            <a:ext cx="5384800" cy="5204460"/>
          </a:xfrm>
          <a:prstGeom xmlns:a="http://schemas.openxmlformats.org/drawingml/2006/main" prst="roundRect">
            <a:avLst>
              <a:gd name="adj" fmla="val 3294"/>
            </a:avLst>
          </a:prstGeom>
          <a:noFill xmlns:a="http://schemas.openxmlformats.org/drawingml/2006/main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A3D41E-82DE-4A8C-9D75-931EF48F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00400"/>
            <a:ext cx="4857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59669"/>
                </a:solidFill>
              </a:defRPr>
            </a:pPr>
            <a:r>
              <a:rPr sz="1125" b="1">
                <a:solidFill>
                  <a:srgbClr val="059669"/>
                </a:solidFill>
              </a:rPr>
              <a:t>VALIDATED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4BA981-5228-4079-B234-E6872E3D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05200"/>
            <a:ext cx="4857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7 Jest tests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B7BBBB-0974-428A-8F4E-38252D05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91000"/>
            <a:ext cx="485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API contracts and metrics output</a:t>
            </a:r>
          </a:p>
        </p:txBody>
      </p:sp>
      <p:sp>
        <p:nvSpPr>
          <p:cNvPr id="7" name="metric-Synthetic">
            <a:extLst xmlns:a="http://schemas.openxmlformats.org/drawingml/2006/main">
              <a:ext uri="{FF2B5EF4-FFF2-40B4-BE49-F238E27FC236}">
                <a16:creationId xmlns:a16="http://schemas.microsoft.com/office/drawing/2014/main" id="{8034FBDF-3296-43B1-88B5-ABF36EB8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600" y="2979420"/>
            <a:ext cx="5384800" cy="5204460"/>
          </a:xfrm>
          <a:prstGeom xmlns:a="http://schemas.openxmlformats.org/drawingml/2006/main" prst="roundRect">
            <a:avLst>
              <a:gd name="adj" fmla="val 3294"/>
            </a:avLst>
          </a:prstGeom>
          <a:noFill xmlns:a="http://schemas.openxmlformats.org/drawingml/2006/main"/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55EFB9-529E-4276-9507-CE568B65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00400"/>
            <a:ext cx="4857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284C7"/>
                </a:solidFill>
              </a:defRPr>
            </a:pPr>
            <a:r>
              <a:rPr sz="1125" b="1">
                <a:solidFill>
                  <a:srgbClr val="0284C7"/>
                </a:solidFill>
              </a:rPr>
              <a:t>SYNTHETIC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A8D785-00D0-4639-BDA7-90B569C9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05200"/>
            <a:ext cx="4857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0 failures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CC430D-968D-46FC-80D5-4439BBA3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191000"/>
            <a:ext cx="485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Newman SLA run with JSON summary</a:t>
            </a:r>
          </a:p>
        </p:txBody>
      </p:sp>
      <p:sp>
        <p:nvSpPr>
          <p:cNvPr id="11" name="metric-Ready">
            <a:extLst xmlns:a="http://schemas.openxmlformats.org/drawingml/2006/main">
              <a:ext uri="{FF2B5EF4-FFF2-40B4-BE49-F238E27FC236}">
                <a16:creationId xmlns:a16="http://schemas.microsoft.com/office/drawing/2014/main" id="{239CEFFB-604F-4C54-9655-41283D98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5000" y="2979420"/>
            <a:ext cx="5384800" cy="5204460"/>
          </a:xfrm>
          <a:prstGeom xmlns:a="http://schemas.openxmlformats.org/drawingml/2006/main" prst="roundRect">
            <a:avLst>
              <a:gd name="adj" fmla="val 3294"/>
            </a:avLst>
          </a:prstGeom>
          <a:noFill xmlns:a="http://schemas.openxmlformats.org/drawingml/2006/main"/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7CA780-7B98-4BDC-B6F7-2C9D7050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3200400"/>
            <a:ext cx="4857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7706"/>
                </a:solidFill>
              </a:defRPr>
            </a:pPr>
            <a:r>
              <a:rPr sz="1125" b="1">
                <a:solidFill>
                  <a:srgbClr val="D97706"/>
                </a:solidFill>
              </a:rPr>
              <a:t>READY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DDABBC-B72E-4345-9046-545792FF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3505200"/>
            <a:ext cx="4857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Portfolio-quality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8117FB-7878-4F1B-B96D-0DD7D487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4191000"/>
            <a:ext cx="485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Readable architecture and polished docs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D7E879-1B18-46F1-9BF7-FF4A9828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412480"/>
            <a:ext cx="16611600" cy="815340"/>
          </a:xfrm>
          <a:prstGeom xmlns:a="http://schemas.openxmlformats.org/drawingml/2006/main" prst="roundRect">
            <a:avLst>
              <a:gd name="adj" fmla="val 23364"/>
            </a:avLst>
          </a:prstGeom>
          <a:noFill xmlns:a="http://schemas.openxmlformats.org/drawingml/2006/main"/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A181F2-4771-43C0-8C81-E6D201F3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8667750"/>
            <a:ext cx="15963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Recommended next step: run k6 traffic while Grafana is open, then capture dashboard screenshots for the README placeholders.</a:t>
            </a:r>
          </a:p>
        </p:txBody>
      </p:sp>
      <p:sp>
        <p:nvSpPr>
          <p:cNvPr id="1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FA90B8C-1AA0-4411-B541-ACCCCD28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63100"/>
            <a:ext cx="1219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0">
            <a:solidFill>
              <a:srgbClr val="0284C7"/>
            </a:solidFill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2B969549-1351-4F04-8796-F1DD5D13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9486900"/>
            <a:ext cx="15182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API Observability Platform</a:t>
            </a:r>
          </a:p>
        </p:txBody>
      </p:sp>
    </p:spTree>
    <p:extLst>
      <p:ext uri="{BB962C8B-B14F-4D97-AF65-F5344CB8AC3E}">
        <p14:creationId xmlns:p14="http://schemas.microsoft.com/office/powerpoint/2010/main" val="9285676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2026-05-07T09:18:13.5240000Z</dcterms:created>
  <dcterms:modified xsi:type="dcterms:W3CDTF">2026-05-07T09:18:13.5240000Z</dcterms:modified>
</coreProperties>
</file>