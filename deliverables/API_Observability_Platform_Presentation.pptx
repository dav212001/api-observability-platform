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2" d="100"/>
          <a:sy n="82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/>
          <a:lstStyle/>
          <a:p>
            <a:r>
              <a:rPr lang="en-US"/>
              <a:t>Latest Newman response time by endpoint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ms</c:v>
          </c:tx>
          <c:invertIfNegative val="1"/>
          <c:cat>
            <c:strLit>
              <c:ptCount val="4"/>
              <c:pt idx="0">
                <c:v>/health</c:v>
              </c:pt>
              <c:pt idx="1">
                <c:v>/users</c:v>
              </c:pt>
              <c:pt idx="2">
                <c:v>/posts GET</c:v>
              </c:pt>
              <c:pt idx="3">
                <c:v>/posts POST</c:v>
              </c:pt>
            </c:strLit>
          </c:cat>
          <c:val>
            <c:numLit>
              <c:formatCode>General</c:formatCode>
              <c:ptCount val="4"/>
              <c:pt idx="0">
                <c:v>35</c:v>
              </c:pt>
              <c:pt idx="1">
                <c:v>66</c:v>
              </c:pt>
              <c:pt idx="2">
                <c:v>120</c:v>
              </c:pt>
              <c:pt idx="3">
                <c:v>197</c:v>
              </c:pt>
            </c:numLit>
          </c:val>
          <c:extLst>
            <c:ext xmlns:c16="http://schemas.microsoft.com/office/drawing/2014/chart" uri="{C3380CC4-5D6E-409C-BE32-E72D297353CC}">
              <c16:uniqueId val="{00000000-A9AE-427B-8BD2-1DE593D32A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/>
          <a:lstStyle/>
          <a:p>
            <a:r>
              <a:rPr lang="en-US"/>
              <a:t>Operational coverage areas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implemented</c:v>
          </c:tx>
          <c:invertIfNegative val="1"/>
          <c:cat>
            <c:strLit>
              <c:ptCount val="6"/>
              <c:pt idx="0">
                <c:v>API</c:v>
              </c:pt>
              <c:pt idx="1">
                <c:v>Tests</c:v>
              </c:pt>
              <c:pt idx="2">
                <c:v>Metrics</c:v>
              </c:pt>
              <c:pt idx="3">
                <c:v>Dashboard</c:v>
              </c:pt>
              <c:pt idx="4">
                <c:v>Load</c:v>
              </c:pt>
              <c:pt idx="5">
                <c:v>CI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85</c:v>
              </c:pt>
              <c:pt idx="5">
                <c:v>90</c:v>
              </c:pt>
            </c:numLit>
          </c:val>
          <c:extLst>
            <c:ext xmlns:c16="http://schemas.microsoft.com/office/drawing/2014/chart" uri="{C3380CC4-5D6E-409C-BE32-E72D297353CC}">
              <c16:uniqueId val="{00000000-8AC4-44FA-9677-4513B811AE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9B5CB71-62C3-4A63-9157-8ACED6B1A4C8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1524000" cy="361950"/>
          </a:xfrm>
          <a:prstGeom prst="roundRect">
            <a:avLst>
              <a:gd name="adj" fmla="val 50000"/>
            </a:avLst>
          </a:prstGeom>
          <a:noFill/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C9632B-B99F-42B5-8CC8-EFE844391455}"/>
              </a:ext>
            </a:extLst>
          </p:cNvPr>
          <p:cNvSpPr>
            <a:spLocks noGrp="1"/>
          </p:cNvSpPr>
          <p:nvPr/>
        </p:nvSpPr>
        <p:spPr>
          <a:xfrm>
            <a:off x="952500" y="781050"/>
            <a:ext cx="1295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Express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E14AD6B-599E-4E2D-B085-EE55E7D08B50}"/>
              </a:ext>
            </a:extLst>
          </p:cNvPr>
          <p:cNvSpPr>
            <a:spLocks noGrp="1"/>
          </p:cNvSpPr>
          <p:nvPr/>
        </p:nvSpPr>
        <p:spPr>
          <a:xfrm>
            <a:off x="2476500" y="685800"/>
            <a:ext cx="1524000" cy="361950"/>
          </a:xfrm>
          <a:prstGeom prst="roundRect">
            <a:avLst>
              <a:gd name="adj" fmla="val 50000"/>
            </a:avLst>
          </a:prstGeom>
          <a:noFill/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55831E-AD03-45EC-A5A0-52FACFCE9FE5}"/>
              </a:ext>
            </a:extLst>
          </p:cNvPr>
          <p:cNvSpPr>
            <a:spLocks noGrp="1"/>
          </p:cNvSpPr>
          <p:nvPr/>
        </p:nvSpPr>
        <p:spPr>
          <a:xfrm>
            <a:off x="2590800" y="781050"/>
            <a:ext cx="1295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Prometheus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E4ECA2-D51D-470B-95F5-245F9403548D}"/>
              </a:ext>
            </a:extLst>
          </p:cNvPr>
          <p:cNvSpPr>
            <a:spLocks noGrp="1"/>
          </p:cNvSpPr>
          <p:nvPr/>
        </p:nvSpPr>
        <p:spPr>
          <a:xfrm>
            <a:off x="4114800" y="685800"/>
            <a:ext cx="1524000" cy="361950"/>
          </a:xfrm>
          <a:prstGeom prst="roundRect">
            <a:avLst>
              <a:gd name="adj" fmla="val 50000"/>
            </a:avLst>
          </a:prstGeom>
          <a:noFill/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D5F9F2-A561-49EE-931D-D40AC40E2F77}"/>
              </a:ext>
            </a:extLst>
          </p:cNvPr>
          <p:cNvSpPr>
            <a:spLocks noGrp="1"/>
          </p:cNvSpPr>
          <p:nvPr/>
        </p:nvSpPr>
        <p:spPr>
          <a:xfrm>
            <a:off x="4229100" y="781050"/>
            <a:ext cx="1295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Grafana</a:t>
            </a:r>
          </a:p>
        </p:txBody>
      </p:sp>
      <p:sp>
        <p:nvSpPr>
          <p:cNvPr id="7" name="cover-title">
            <a:extLst>
              <a:ext uri="{FF2B5EF4-FFF2-40B4-BE49-F238E27FC236}">
                <a16:creationId xmlns:a16="http://schemas.microsoft.com/office/drawing/2014/main" id="{DE7D8EC9-3449-400D-93E1-8CC43D1600CF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836295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000" b="1">
                <a:solidFill>
                  <a:srgbClr val="0F172A"/>
                </a:solidFill>
              </a:defRPr>
            </a:pPr>
            <a:r>
              <a:rPr sz="6000" b="1">
                <a:solidFill>
                  <a:srgbClr val="0F172A"/>
                </a:solidFill>
              </a:rPr>
              <a:t>API Observability Platform</a:t>
            </a:r>
          </a:p>
        </p:txBody>
      </p:sp>
      <p:sp>
        <p:nvSpPr>
          <p:cNvPr id="8" name="cover-subtitle">
            <a:extLst>
              <a:ext uri="{FF2B5EF4-FFF2-40B4-BE49-F238E27FC236}">
                <a16:creationId xmlns:a16="http://schemas.microsoft.com/office/drawing/2014/main" id="{36D95A0A-5795-4661-9CA5-603A095C65DC}"/>
              </a:ext>
            </a:extLst>
          </p:cNvPr>
          <p:cNvSpPr>
            <a:spLocks noGrp="1"/>
          </p:cNvSpPr>
          <p:nvPr/>
        </p:nvSpPr>
        <p:spPr>
          <a:xfrm>
            <a:off x="838200" y="3390900"/>
            <a:ext cx="91821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475569"/>
                </a:solidFill>
              </a:defRPr>
            </a:pPr>
            <a:r>
              <a:rPr sz="2250" dirty="0">
                <a:solidFill>
                  <a:srgbClr val="475569"/>
                </a:solidFill>
              </a:rPr>
              <a:t>A miniature production monitoring environment for automated API checks, SLA metrics, and DevOps-style dashboards.</a:t>
            </a:r>
          </a:p>
        </p:txBody>
      </p:sp>
      <p:sp>
        <p:nvSpPr>
          <p:cNvPr id="9" name="metric-Synthetic checks">
            <a:extLst>
              <a:ext uri="{FF2B5EF4-FFF2-40B4-BE49-F238E27FC236}">
                <a16:creationId xmlns:a16="http://schemas.microsoft.com/office/drawing/2014/main" id="{A3CBD4F6-B4A1-4697-99E3-B4E6E208F24B}"/>
              </a:ext>
            </a:extLst>
          </p:cNvPr>
          <p:cNvSpPr>
            <a:spLocks noGrp="1"/>
          </p:cNvSpPr>
          <p:nvPr/>
        </p:nvSpPr>
        <p:spPr>
          <a:xfrm>
            <a:off x="11267209" y="685800"/>
            <a:ext cx="6182591" cy="2669540"/>
          </a:xfrm>
          <a:prstGeom prst="roundRect">
            <a:avLst>
              <a:gd name="adj" fmla="val 6422"/>
            </a:avLst>
          </a:prstGeom>
          <a:noFill/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2A0F6B-EB8A-4DC8-B526-C528BF482C7A}"/>
              </a:ext>
            </a:extLst>
          </p:cNvPr>
          <p:cNvSpPr>
            <a:spLocks noGrp="1"/>
          </p:cNvSpPr>
          <p:nvPr/>
        </p:nvSpPr>
        <p:spPr>
          <a:xfrm>
            <a:off x="11525250" y="914400"/>
            <a:ext cx="5657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SYNTHETIC CHECKS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3EE2AA-811F-4F33-9552-FB9B3CB62F98}"/>
              </a:ext>
            </a:extLst>
          </p:cNvPr>
          <p:cNvSpPr>
            <a:spLocks noGrp="1"/>
          </p:cNvSpPr>
          <p:nvPr/>
        </p:nvSpPr>
        <p:spPr>
          <a:xfrm>
            <a:off x="11525250" y="1219200"/>
            <a:ext cx="56578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16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597B13-7681-4F96-AA19-875EDFD9A271}"/>
              </a:ext>
            </a:extLst>
          </p:cNvPr>
          <p:cNvSpPr>
            <a:spLocks noGrp="1"/>
          </p:cNvSpPr>
          <p:nvPr/>
        </p:nvSpPr>
        <p:spPr>
          <a:xfrm>
            <a:off x="11525250" y="1905000"/>
            <a:ext cx="5657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Postman assertions</a:t>
            </a:r>
          </a:p>
        </p:txBody>
      </p:sp>
      <p:sp>
        <p:nvSpPr>
          <p:cNvPr id="13" name="metric-SLA target">
            <a:extLst>
              <a:ext uri="{FF2B5EF4-FFF2-40B4-BE49-F238E27FC236}">
                <a16:creationId xmlns:a16="http://schemas.microsoft.com/office/drawing/2014/main" id="{63281FBC-2F92-44C1-B344-33AAA571361C}"/>
              </a:ext>
            </a:extLst>
          </p:cNvPr>
          <p:cNvSpPr>
            <a:spLocks noGrp="1"/>
          </p:cNvSpPr>
          <p:nvPr/>
        </p:nvSpPr>
        <p:spPr>
          <a:xfrm>
            <a:off x="11267209" y="3545840"/>
            <a:ext cx="6182591" cy="2669540"/>
          </a:xfrm>
          <a:prstGeom prst="roundRect">
            <a:avLst>
              <a:gd name="adj" fmla="val 6422"/>
            </a:avLst>
          </a:prstGeom>
          <a:noFill/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969EC4-E8AA-41D6-915F-D2898F47305A}"/>
              </a:ext>
            </a:extLst>
          </p:cNvPr>
          <p:cNvSpPr>
            <a:spLocks noGrp="1"/>
          </p:cNvSpPr>
          <p:nvPr/>
        </p:nvSpPr>
        <p:spPr>
          <a:xfrm>
            <a:off x="11525250" y="3771900"/>
            <a:ext cx="5657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SLA TARGET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BF1C22-67C7-4FDE-83B8-E6C5414DBC98}"/>
              </a:ext>
            </a:extLst>
          </p:cNvPr>
          <p:cNvSpPr>
            <a:spLocks noGrp="1"/>
          </p:cNvSpPr>
          <p:nvPr/>
        </p:nvSpPr>
        <p:spPr>
          <a:xfrm>
            <a:off x="11525250" y="4076700"/>
            <a:ext cx="56578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300ms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00CCE9-6DC2-4E6A-A21D-3A753FD3707D}"/>
              </a:ext>
            </a:extLst>
          </p:cNvPr>
          <p:cNvSpPr>
            <a:spLocks noGrp="1"/>
          </p:cNvSpPr>
          <p:nvPr/>
        </p:nvSpPr>
        <p:spPr>
          <a:xfrm>
            <a:off x="11525250" y="4762500"/>
            <a:ext cx="5657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Response-time threshold</a:t>
            </a:r>
          </a:p>
        </p:txBody>
      </p:sp>
      <p:sp>
        <p:nvSpPr>
          <p:cNvPr id="17" name="metric-Local stack">
            <a:extLst>
              <a:ext uri="{FF2B5EF4-FFF2-40B4-BE49-F238E27FC236}">
                <a16:creationId xmlns:a16="http://schemas.microsoft.com/office/drawing/2014/main" id="{494E6392-7BCE-4829-9B9B-FDD6B5AC5817}"/>
              </a:ext>
            </a:extLst>
          </p:cNvPr>
          <p:cNvSpPr>
            <a:spLocks noGrp="1"/>
          </p:cNvSpPr>
          <p:nvPr/>
        </p:nvSpPr>
        <p:spPr>
          <a:xfrm>
            <a:off x="11267209" y="6405880"/>
            <a:ext cx="6182591" cy="2669540"/>
          </a:xfrm>
          <a:prstGeom prst="roundRect">
            <a:avLst>
              <a:gd name="adj" fmla="val 6422"/>
            </a:avLst>
          </a:prstGeom>
          <a:noFill/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B8C693-4730-4F32-AD33-EF09CA8676B3}"/>
              </a:ext>
            </a:extLst>
          </p:cNvPr>
          <p:cNvSpPr>
            <a:spLocks noGrp="1"/>
          </p:cNvSpPr>
          <p:nvPr/>
        </p:nvSpPr>
        <p:spPr>
          <a:xfrm>
            <a:off x="11525250" y="6629400"/>
            <a:ext cx="5657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LOCAL STACK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A6D6AE-FB93-4C96-9E86-3A4EB685D318}"/>
              </a:ext>
            </a:extLst>
          </p:cNvPr>
          <p:cNvSpPr>
            <a:spLocks noGrp="1"/>
          </p:cNvSpPr>
          <p:nvPr/>
        </p:nvSpPr>
        <p:spPr>
          <a:xfrm>
            <a:off x="11525250" y="6934200"/>
            <a:ext cx="56578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24073B-FCD4-4338-8E5E-C74FC4BCC8A2}"/>
              </a:ext>
            </a:extLst>
          </p:cNvPr>
          <p:cNvSpPr>
            <a:spLocks noGrp="1"/>
          </p:cNvSpPr>
          <p:nvPr/>
        </p:nvSpPr>
        <p:spPr>
          <a:xfrm>
            <a:off x="11525250" y="7620000"/>
            <a:ext cx="5657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API, Prometheus, Grafana</a:t>
            </a:r>
          </a:p>
        </p:txBody>
      </p:sp>
      <p:sp>
        <p:nvSpPr>
          <p:cNvPr id="21" name="cover-footer">
            <a:extLst>
              <a:ext uri="{FF2B5EF4-FFF2-40B4-BE49-F238E27FC236}">
                <a16:creationId xmlns:a16="http://schemas.microsoft.com/office/drawing/2014/main" id="{FAF7FE17-7DF4-49BD-837D-BB422E1C72BB}"/>
              </a:ext>
            </a:extLst>
          </p:cNvPr>
          <p:cNvSpPr>
            <a:spLocks noGrp="1"/>
          </p:cNvSpPr>
          <p:nvPr/>
        </p:nvSpPr>
        <p:spPr>
          <a:xfrm>
            <a:off x="838200" y="9410700"/>
            <a:ext cx="166116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Project report presentation | 2026</a:t>
            </a:r>
          </a:p>
        </p:txBody>
      </p:sp>
    </p:spTree>
    <p:extLst>
      <p:ext uri="{BB962C8B-B14F-4D97-AF65-F5344CB8AC3E}">
        <p14:creationId xmlns:p14="http://schemas.microsoft.com/office/powerpoint/2010/main" val="1403454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title">
            <a:extLst>
              <a:ext uri="{FF2B5EF4-FFF2-40B4-BE49-F238E27FC236}">
                <a16:creationId xmlns:a16="http://schemas.microsoft.com/office/drawing/2014/main" id="{6D196FD9-03B3-4514-8160-DEA04016E695}"/>
              </a:ext>
            </a:extLst>
          </p:cNvPr>
          <p:cNvSpPr>
            <a:spLocks noGrp="1"/>
          </p:cNvSpPr>
          <p:nvPr/>
        </p:nvSpPr>
        <p:spPr>
          <a:xfrm>
            <a:off x="838200" y="609600"/>
            <a:ext cx="110680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The project behaves like a small SRE platform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B7575A13-5592-4638-A764-9DB6472B4A17}"/>
              </a:ext>
            </a:extLst>
          </p:cNvPr>
          <p:cNvSpPr>
            <a:spLocks noGrp="1"/>
          </p:cNvSpPr>
          <p:nvPr/>
        </p:nvSpPr>
        <p:spPr>
          <a:xfrm>
            <a:off x="838200" y="2358244"/>
            <a:ext cx="113538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475569"/>
                </a:solidFill>
              </a:defRPr>
            </a:pPr>
            <a:r>
              <a:rPr sz="1875" dirty="0">
                <a:solidFill>
                  <a:srgbClr val="475569"/>
                </a:solidFill>
              </a:rPr>
              <a:t>It tests APIs, captures runtime telemetry, stores metrics, and visualizes operational health in a provisioned dashboard.</a:t>
            </a:r>
          </a:p>
        </p:txBody>
      </p:sp>
      <p:sp>
        <p:nvSpPr>
          <p:cNvPr id="3" name="metric-Test">
            <a:extLst>
              <a:ext uri="{FF2B5EF4-FFF2-40B4-BE49-F238E27FC236}">
                <a16:creationId xmlns:a16="http://schemas.microsoft.com/office/drawing/2014/main" id="{3AE2ED52-A157-4020-94E8-DC3EB73E6C9F}"/>
              </a:ext>
            </a:extLst>
          </p:cNvPr>
          <p:cNvSpPr>
            <a:spLocks noGrp="1"/>
          </p:cNvSpPr>
          <p:nvPr/>
        </p:nvSpPr>
        <p:spPr>
          <a:xfrm>
            <a:off x="838200" y="2270760"/>
            <a:ext cx="4152900" cy="6957060"/>
          </a:xfrm>
          <a:prstGeom prst="roundRect">
            <a:avLst>
              <a:gd name="adj" fmla="val 4128"/>
            </a:avLst>
          </a:prstGeom>
          <a:noFill/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0CEB57-1E16-4F46-BA0A-BCBB73D4FFAD}"/>
              </a:ext>
            </a:extLst>
          </p:cNvPr>
          <p:cNvSpPr>
            <a:spLocks noGrp="1"/>
          </p:cNvSpPr>
          <p:nvPr/>
        </p:nvSpPr>
        <p:spPr>
          <a:xfrm>
            <a:off x="838200" y="4160227"/>
            <a:ext cx="3619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TEST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DBF0BE-2A17-4A26-ADD4-94C50F802D6D}"/>
              </a:ext>
            </a:extLst>
          </p:cNvPr>
          <p:cNvSpPr>
            <a:spLocks noGrp="1"/>
          </p:cNvSpPr>
          <p:nvPr/>
        </p:nvSpPr>
        <p:spPr>
          <a:xfrm>
            <a:off x="838200" y="4465027"/>
            <a:ext cx="36195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Postman + Jest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D7E8F9-950A-4959-AA2E-71702D323706}"/>
              </a:ext>
            </a:extLst>
          </p:cNvPr>
          <p:cNvSpPr>
            <a:spLocks noGrp="1"/>
          </p:cNvSpPr>
          <p:nvPr/>
        </p:nvSpPr>
        <p:spPr>
          <a:xfrm>
            <a:off x="838200" y="5150827"/>
            <a:ext cx="3619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Contract, content, and SLA assertions</a:t>
            </a:r>
          </a:p>
        </p:txBody>
      </p:sp>
      <p:sp>
        <p:nvSpPr>
          <p:cNvPr id="7" name="metric-Collect">
            <a:extLst>
              <a:ext uri="{FF2B5EF4-FFF2-40B4-BE49-F238E27FC236}">
                <a16:creationId xmlns:a16="http://schemas.microsoft.com/office/drawing/2014/main" id="{1C9D7810-AC09-4ABE-A68A-6A342427D732}"/>
              </a:ext>
            </a:extLst>
          </p:cNvPr>
          <p:cNvSpPr>
            <a:spLocks noGrp="1"/>
          </p:cNvSpPr>
          <p:nvPr/>
        </p:nvSpPr>
        <p:spPr>
          <a:xfrm>
            <a:off x="4991100" y="2270760"/>
            <a:ext cx="4152900" cy="6957060"/>
          </a:xfrm>
          <a:prstGeom prst="roundRect">
            <a:avLst>
              <a:gd name="adj" fmla="val 4128"/>
            </a:avLst>
          </a:prstGeom>
          <a:noFill/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D716C6-D445-4B2F-B90B-1EC7D424D7E3}"/>
              </a:ext>
            </a:extLst>
          </p:cNvPr>
          <p:cNvSpPr>
            <a:spLocks noGrp="1"/>
          </p:cNvSpPr>
          <p:nvPr/>
        </p:nvSpPr>
        <p:spPr>
          <a:xfrm>
            <a:off x="4991100" y="4160227"/>
            <a:ext cx="3619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COLLECT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13EB09-0AB7-44F9-812D-FD0A1C718C4E}"/>
              </a:ext>
            </a:extLst>
          </p:cNvPr>
          <p:cNvSpPr>
            <a:spLocks noGrp="1"/>
          </p:cNvSpPr>
          <p:nvPr/>
        </p:nvSpPr>
        <p:spPr>
          <a:xfrm>
            <a:off x="4991100" y="4465027"/>
            <a:ext cx="36195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/metrics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43F968-A6A3-4CD7-9B5E-9ACDED917B97}"/>
              </a:ext>
            </a:extLst>
          </p:cNvPr>
          <p:cNvSpPr>
            <a:spLocks noGrp="1"/>
          </p:cNvSpPr>
          <p:nvPr/>
        </p:nvSpPr>
        <p:spPr>
          <a:xfrm>
            <a:off x="4991100" y="5150827"/>
            <a:ext cx="3619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Counters, gauges, and latency histograms</a:t>
            </a:r>
          </a:p>
        </p:txBody>
      </p:sp>
      <p:sp>
        <p:nvSpPr>
          <p:cNvPr id="11" name="metric-Observe">
            <a:extLst>
              <a:ext uri="{FF2B5EF4-FFF2-40B4-BE49-F238E27FC236}">
                <a16:creationId xmlns:a16="http://schemas.microsoft.com/office/drawing/2014/main" id="{710581B5-4205-4B5E-B2C8-25CA5677ECB3}"/>
              </a:ext>
            </a:extLst>
          </p:cNvPr>
          <p:cNvSpPr>
            <a:spLocks noGrp="1"/>
          </p:cNvSpPr>
          <p:nvPr/>
        </p:nvSpPr>
        <p:spPr>
          <a:xfrm>
            <a:off x="9144000" y="2270760"/>
            <a:ext cx="4152900" cy="6957060"/>
          </a:xfrm>
          <a:prstGeom prst="roundRect">
            <a:avLst>
              <a:gd name="adj" fmla="val 4128"/>
            </a:avLst>
          </a:prstGeom>
          <a:noFill/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FBE41C-9D22-4E8E-97B6-820437733BB2}"/>
              </a:ext>
            </a:extLst>
          </p:cNvPr>
          <p:cNvSpPr>
            <a:spLocks noGrp="1"/>
          </p:cNvSpPr>
          <p:nvPr/>
        </p:nvSpPr>
        <p:spPr>
          <a:xfrm>
            <a:off x="9144000" y="4160227"/>
            <a:ext cx="3619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OBSERVE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79DDD0-8850-4F59-83A5-BAF68E3B036A}"/>
              </a:ext>
            </a:extLst>
          </p:cNvPr>
          <p:cNvSpPr>
            <a:spLocks noGrp="1"/>
          </p:cNvSpPr>
          <p:nvPr/>
        </p:nvSpPr>
        <p:spPr>
          <a:xfrm>
            <a:off x="9144000" y="4465027"/>
            <a:ext cx="36195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Prometheus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61F2CB-585E-42D9-95A7-3F9DACAEBCAF}"/>
              </a:ext>
            </a:extLst>
          </p:cNvPr>
          <p:cNvSpPr>
            <a:spLocks noGrp="1"/>
          </p:cNvSpPr>
          <p:nvPr/>
        </p:nvSpPr>
        <p:spPr>
          <a:xfrm>
            <a:off x="9144000" y="5150827"/>
            <a:ext cx="3619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5-second scrape interval and alert rules</a:t>
            </a:r>
          </a:p>
        </p:txBody>
      </p:sp>
      <p:sp>
        <p:nvSpPr>
          <p:cNvPr id="15" name="metric-Visualize">
            <a:extLst>
              <a:ext uri="{FF2B5EF4-FFF2-40B4-BE49-F238E27FC236}">
                <a16:creationId xmlns:a16="http://schemas.microsoft.com/office/drawing/2014/main" id="{4E19B3AA-B3DC-4B1F-865F-8BDA50045957}"/>
              </a:ext>
            </a:extLst>
          </p:cNvPr>
          <p:cNvSpPr>
            <a:spLocks noGrp="1"/>
          </p:cNvSpPr>
          <p:nvPr/>
        </p:nvSpPr>
        <p:spPr>
          <a:xfrm>
            <a:off x="13296900" y="2270760"/>
            <a:ext cx="4152900" cy="6957060"/>
          </a:xfrm>
          <a:prstGeom prst="roundRect">
            <a:avLst>
              <a:gd name="adj" fmla="val 4128"/>
            </a:avLst>
          </a:prstGeom>
          <a:noFill/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8E5E6B-0621-4E47-9A67-ACFACFE00CD6}"/>
              </a:ext>
            </a:extLst>
          </p:cNvPr>
          <p:cNvSpPr>
            <a:spLocks noGrp="1"/>
          </p:cNvSpPr>
          <p:nvPr/>
        </p:nvSpPr>
        <p:spPr>
          <a:xfrm>
            <a:off x="13296900" y="4160227"/>
            <a:ext cx="3619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E11D48"/>
                </a:solidFill>
              </a:defRPr>
            </a:pPr>
            <a:r>
              <a:rPr sz="1125" b="1">
                <a:solidFill>
                  <a:srgbClr val="E11D48"/>
                </a:solidFill>
              </a:rPr>
              <a:t>VISUALIZE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0C7A6F-4041-4E59-91B6-00304D1A5E87}"/>
              </a:ext>
            </a:extLst>
          </p:cNvPr>
          <p:cNvSpPr>
            <a:spLocks noGrp="1"/>
          </p:cNvSpPr>
          <p:nvPr/>
        </p:nvSpPr>
        <p:spPr>
          <a:xfrm>
            <a:off x="13296900" y="4465027"/>
            <a:ext cx="36195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Grafana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88D733-B990-40D2-9EC7-DBB321B4A394}"/>
              </a:ext>
            </a:extLst>
          </p:cNvPr>
          <p:cNvSpPr>
            <a:spLocks noGrp="1"/>
          </p:cNvSpPr>
          <p:nvPr/>
        </p:nvSpPr>
        <p:spPr>
          <a:xfrm>
            <a:off x="13296900" y="5150827"/>
            <a:ext cx="3619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Health, performance, and reliability rows</a:t>
            </a:r>
          </a:p>
        </p:txBody>
      </p:sp>
      <p:sp>
        <p:nvSpPr>
          <p:cNvPr id="19" name="footer-rule">
            <a:extLst>
              <a:ext uri="{FF2B5EF4-FFF2-40B4-BE49-F238E27FC236}">
                <a16:creationId xmlns:a16="http://schemas.microsoft.com/office/drawing/2014/main" id="{7447D628-A97B-430C-9B2C-2E93ED58E6B6}"/>
              </a:ext>
            </a:extLst>
          </p:cNvPr>
          <p:cNvSpPr>
            <a:spLocks noGrp="1"/>
          </p:cNvSpPr>
          <p:nvPr/>
        </p:nvSpPr>
        <p:spPr>
          <a:xfrm>
            <a:off x="838200" y="9563100"/>
            <a:ext cx="1219200" cy="28575"/>
          </a:xfrm>
          <a:prstGeom prst="rect">
            <a:avLst/>
          </a:prstGeom>
          <a:solidFill>
            <a:srgbClr val="0284C7"/>
          </a:solidFill>
          <a:ln w="0">
            <a:solidFill>
              <a:srgbClr val="0284C7"/>
            </a:solidFill>
            <a:prstDash val="solid"/>
          </a:ln>
        </p:spPr>
      </p:sp>
      <p:sp>
        <p:nvSpPr>
          <p:cNvPr id="20" name="footer">
            <a:extLst>
              <a:ext uri="{FF2B5EF4-FFF2-40B4-BE49-F238E27FC236}">
                <a16:creationId xmlns:a16="http://schemas.microsoft.com/office/drawing/2014/main" id="{691C0A81-FFAC-4922-91D9-DE1CC692BFE9}"/>
              </a:ext>
            </a:extLst>
          </p:cNvPr>
          <p:cNvSpPr>
            <a:spLocks noGrp="1"/>
          </p:cNvSpPr>
          <p:nvPr/>
        </p:nvSpPr>
        <p:spPr>
          <a:xfrm>
            <a:off x="2266950" y="9486900"/>
            <a:ext cx="15182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API Observability Platform</a:t>
            </a:r>
          </a:p>
        </p:txBody>
      </p:sp>
    </p:spTree>
    <p:extLst>
      <p:ext uri="{BB962C8B-B14F-4D97-AF65-F5344CB8AC3E}">
        <p14:creationId xmlns:p14="http://schemas.microsoft.com/office/powerpoint/2010/main" val="2038964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title">
            <a:extLst>
              <a:ext uri="{FF2B5EF4-FFF2-40B4-BE49-F238E27FC236}">
                <a16:creationId xmlns:a16="http://schemas.microsoft.com/office/drawing/2014/main" id="{FD898B2F-B73F-461B-A01A-81F830FAE5AC}"/>
              </a:ext>
            </a:extLst>
          </p:cNvPr>
          <p:cNvSpPr>
            <a:spLocks noGrp="1"/>
          </p:cNvSpPr>
          <p:nvPr/>
        </p:nvSpPr>
        <p:spPr>
          <a:xfrm>
            <a:off x="838200" y="609600"/>
            <a:ext cx="1276350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Architecture: synthetic traffic becomes observability data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C1E6DC85-4B45-4F59-B380-26959269C082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10153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475569"/>
                </a:solidFill>
              </a:defRPr>
            </a:pPr>
            <a:r>
              <a:rPr sz="1875">
                <a:solidFill>
                  <a:srgbClr val="475569"/>
                </a:solidFill>
              </a:rPr>
              <a:t>The stack keeps every layer small enough to run locally while preserving production monitoring concepts.</a:t>
            </a:r>
          </a:p>
        </p:txBody>
      </p:sp>
      <p:sp>
        <p:nvSpPr>
          <p:cNvPr id="3" name="metric-Clients">
            <a:extLst>
              <a:ext uri="{FF2B5EF4-FFF2-40B4-BE49-F238E27FC236}">
                <a16:creationId xmlns:a16="http://schemas.microsoft.com/office/drawing/2014/main" id="{EE8CEE7D-1D05-442C-B6F8-55DAECB59898}"/>
              </a:ext>
            </a:extLst>
          </p:cNvPr>
          <p:cNvSpPr>
            <a:spLocks noGrp="1"/>
          </p:cNvSpPr>
          <p:nvPr/>
        </p:nvSpPr>
        <p:spPr>
          <a:xfrm>
            <a:off x="838200" y="2693670"/>
            <a:ext cx="3619976" cy="6534150"/>
          </a:xfrm>
          <a:prstGeom prst="roundRect">
            <a:avLst>
              <a:gd name="adj" fmla="val 4736"/>
            </a:avLst>
          </a:prstGeom>
          <a:noFill/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073BAD-8378-4045-8861-070AAC7633E1}"/>
              </a:ext>
            </a:extLst>
          </p:cNvPr>
          <p:cNvSpPr>
            <a:spLocks noGrp="1"/>
          </p:cNvSpPr>
          <p:nvPr/>
        </p:nvSpPr>
        <p:spPr>
          <a:xfrm>
            <a:off x="1104900" y="2914650"/>
            <a:ext cx="3086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CLIENTS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DAA660-F8F8-4BBA-917D-7839C2E837D1}"/>
              </a:ext>
            </a:extLst>
          </p:cNvPr>
          <p:cNvSpPr>
            <a:spLocks noGrp="1"/>
          </p:cNvSpPr>
          <p:nvPr/>
        </p:nvSpPr>
        <p:spPr>
          <a:xfrm>
            <a:off x="1104900" y="3219450"/>
            <a:ext cx="3086100" cy="1104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Newman, Jest, k6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352D7D-DD5D-4393-8F14-B382A8425477}"/>
              </a:ext>
            </a:extLst>
          </p:cNvPr>
          <p:cNvSpPr>
            <a:spLocks noGrp="1"/>
          </p:cNvSpPr>
          <p:nvPr/>
        </p:nvSpPr>
        <p:spPr>
          <a:xfrm>
            <a:off x="1104900" y="4457700"/>
            <a:ext cx="3086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Synthetic and load traffic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97086D-B8EC-43F3-B65A-E8696C54A733}"/>
              </a:ext>
            </a:extLst>
          </p:cNvPr>
          <p:cNvSpPr>
            <a:spLocks noGrp="1"/>
          </p:cNvSpPr>
          <p:nvPr/>
        </p:nvSpPr>
        <p:spPr>
          <a:xfrm>
            <a:off x="4458176" y="3263411"/>
            <a:ext cx="539591" cy="558312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284C7"/>
                </a:solidFill>
              </a:defRPr>
            </a:pPr>
            <a:r>
              <a:rPr sz="3600" b="1" dirty="0">
                <a:solidFill>
                  <a:srgbClr val="0284C7"/>
                </a:solidFill>
              </a:rPr>
              <a:t>-&gt;</a:t>
            </a:r>
          </a:p>
        </p:txBody>
      </p:sp>
      <p:sp>
        <p:nvSpPr>
          <p:cNvPr id="8" name="metric-API">
            <a:extLst>
              <a:ext uri="{FF2B5EF4-FFF2-40B4-BE49-F238E27FC236}">
                <a16:creationId xmlns:a16="http://schemas.microsoft.com/office/drawing/2014/main" id="{D7BC8AEF-EDE6-4772-A491-F986E7541AE9}"/>
              </a:ext>
            </a:extLst>
          </p:cNvPr>
          <p:cNvSpPr>
            <a:spLocks noGrp="1"/>
          </p:cNvSpPr>
          <p:nvPr/>
        </p:nvSpPr>
        <p:spPr>
          <a:xfrm>
            <a:off x="5168741" y="2693670"/>
            <a:ext cx="3619976" cy="6534150"/>
          </a:xfrm>
          <a:prstGeom prst="roundRect">
            <a:avLst>
              <a:gd name="adj" fmla="val 4736"/>
            </a:avLst>
          </a:prstGeom>
          <a:noFill/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7F3542-2090-4C9C-9BEC-7F3BDC52982A}"/>
              </a:ext>
            </a:extLst>
          </p:cNvPr>
          <p:cNvSpPr>
            <a:spLocks noGrp="1"/>
          </p:cNvSpPr>
          <p:nvPr/>
        </p:nvSpPr>
        <p:spPr>
          <a:xfrm>
            <a:off x="5429250" y="2914650"/>
            <a:ext cx="3086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API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4B4AB-3C65-4E87-A628-A4A91172F66D}"/>
              </a:ext>
            </a:extLst>
          </p:cNvPr>
          <p:cNvSpPr>
            <a:spLocks noGrp="1"/>
          </p:cNvSpPr>
          <p:nvPr/>
        </p:nvSpPr>
        <p:spPr>
          <a:xfrm>
            <a:off x="5429250" y="3219450"/>
            <a:ext cx="30861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Express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C11EC1-AEEC-49B9-BD41-6FBC705635F5}"/>
              </a:ext>
            </a:extLst>
          </p:cNvPr>
          <p:cNvSpPr>
            <a:spLocks noGrp="1"/>
          </p:cNvSpPr>
          <p:nvPr/>
        </p:nvSpPr>
        <p:spPr>
          <a:xfrm>
            <a:off x="5429250" y="3905250"/>
            <a:ext cx="3086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/users, /posts, /health, /metrics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4D7DC3-462F-4E38-96A9-F14F3D8DF27A}"/>
              </a:ext>
            </a:extLst>
          </p:cNvPr>
          <p:cNvSpPr>
            <a:spLocks noGrp="1"/>
          </p:cNvSpPr>
          <p:nvPr/>
        </p:nvSpPr>
        <p:spPr>
          <a:xfrm>
            <a:off x="8393979" y="3219450"/>
            <a:ext cx="968619" cy="9601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284C7"/>
                </a:solidFill>
              </a:defRPr>
            </a:pPr>
            <a:r>
              <a:rPr sz="3600" b="1">
                <a:solidFill>
                  <a:srgbClr val="0284C7"/>
                </a:solidFill>
              </a:rPr>
              <a:t>-&gt;</a:t>
            </a:r>
          </a:p>
        </p:txBody>
      </p:sp>
      <p:sp>
        <p:nvSpPr>
          <p:cNvPr id="13" name="metric-Metrics">
            <a:extLst>
              <a:ext uri="{FF2B5EF4-FFF2-40B4-BE49-F238E27FC236}">
                <a16:creationId xmlns:a16="http://schemas.microsoft.com/office/drawing/2014/main" id="{1B3D760F-1673-483B-9455-6F802AFE998D}"/>
              </a:ext>
            </a:extLst>
          </p:cNvPr>
          <p:cNvSpPr>
            <a:spLocks noGrp="1"/>
          </p:cNvSpPr>
          <p:nvPr/>
        </p:nvSpPr>
        <p:spPr>
          <a:xfrm>
            <a:off x="9499282" y="2693670"/>
            <a:ext cx="3619976" cy="6534150"/>
          </a:xfrm>
          <a:prstGeom prst="roundRect">
            <a:avLst>
              <a:gd name="adj" fmla="val 4736"/>
            </a:avLst>
          </a:prstGeom>
          <a:noFill/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554D2B-FACF-4B7F-B768-2007FFDBC0A9}"/>
              </a:ext>
            </a:extLst>
          </p:cNvPr>
          <p:cNvSpPr>
            <a:spLocks noGrp="1"/>
          </p:cNvSpPr>
          <p:nvPr/>
        </p:nvSpPr>
        <p:spPr>
          <a:xfrm>
            <a:off x="9772650" y="2914650"/>
            <a:ext cx="3086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METRICS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0EDA65-264C-4B4F-B6EE-5F7DD5835779}"/>
              </a:ext>
            </a:extLst>
          </p:cNvPr>
          <p:cNvSpPr>
            <a:spLocks noGrp="1"/>
          </p:cNvSpPr>
          <p:nvPr/>
        </p:nvSpPr>
        <p:spPr>
          <a:xfrm>
            <a:off x="9772650" y="3219450"/>
            <a:ext cx="30861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Prometheus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522E5A-1F45-44CF-B206-EE0A777B38A6}"/>
              </a:ext>
            </a:extLst>
          </p:cNvPr>
          <p:cNvSpPr>
            <a:spLocks noGrp="1"/>
          </p:cNvSpPr>
          <p:nvPr/>
        </p:nvSpPr>
        <p:spPr>
          <a:xfrm>
            <a:off x="9772650" y="3905250"/>
            <a:ext cx="3086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Scrapes service telemetry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304B0B-1566-4749-A2A1-5010D5A0200D}"/>
              </a:ext>
            </a:extLst>
          </p:cNvPr>
          <p:cNvSpPr>
            <a:spLocks noGrp="1"/>
          </p:cNvSpPr>
          <p:nvPr/>
        </p:nvSpPr>
        <p:spPr>
          <a:xfrm>
            <a:off x="13014832" y="3162300"/>
            <a:ext cx="681404" cy="1981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284C7"/>
                </a:solidFill>
              </a:defRPr>
            </a:pPr>
            <a:r>
              <a:rPr sz="3600" b="1">
                <a:solidFill>
                  <a:srgbClr val="0284C7"/>
                </a:solidFill>
              </a:rPr>
              <a:t>-&gt;</a:t>
            </a:r>
          </a:p>
        </p:txBody>
      </p:sp>
      <p:sp>
        <p:nvSpPr>
          <p:cNvPr id="18" name="metric-Dashboard">
            <a:extLst>
              <a:ext uri="{FF2B5EF4-FFF2-40B4-BE49-F238E27FC236}">
                <a16:creationId xmlns:a16="http://schemas.microsoft.com/office/drawing/2014/main" id="{49078DCA-1935-4EA6-A633-81D745E81BFB}"/>
              </a:ext>
            </a:extLst>
          </p:cNvPr>
          <p:cNvSpPr>
            <a:spLocks noGrp="1"/>
          </p:cNvSpPr>
          <p:nvPr/>
        </p:nvSpPr>
        <p:spPr>
          <a:xfrm>
            <a:off x="13829824" y="2693670"/>
            <a:ext cx="3619976" cy="6534150"/>
          </a:xfrm>
          <a:prstGeom prst="roundRect">
            <a:avLst>
              <a:gd name="adj" fmla="val 4736"/>
            </a:avLst>
          </a:prstGeom>
          <a:noFill/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709B3B-453C-455A-B32F-2D3D51C19E7F}"/>
              </a:ext>
            </a:extLst>
          </p:cNvPr>
          <p:cNvSpPr>
            <a:spLocks noGrp="1"/>
          </p:cNvSpPr>
          <p:nvPr/>
        </p:nvSpPr>
        <p:spPr>
          <a:xfrm>
            <a:off x="14097000" y="2914650"/>
            <a:ext cx="3086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E11D48"/>
                </a:solidFill>
              </a:defRPr>
            </a:pPr>
            <a:r>
              <a:rPr sz="1125" b="1">
                <a:solidFill>
                  <a:srgbClr val="E11D48"/>
                </a:solidFill>
              </a:rPr>
              <a:t>DASHBOARD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D7022F-D53C-4939-A904-B67B24941DE7}"/>
              </a:ext>
            </a:extLst>
          </p:cNvPr>
          <p:cNvSpPr>
            <a:spLocks noGrp="1"/>
          </p:cNvSpPr>
          <p:nvPr/>
        </p:nvSpPr>
        <p:spPr>
          <a:xfrm>
            <a:off x="14097000" y="3219450"/>
            <a:ext cx="30861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Grafana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70B43A-8AEB-420D-8C58-94F1B0156EA4}"/>
              </a:ext>
            </a:extLst>
          </p:cNvPr>
          <p:cNvSpPr>
            <a:spLocks noGrp="1"/>
          </p:cNvSpPr>
          <p:nvPr/>
        </p:nvSpPr>
        <p:spPr>
          <a:xfrm>
            <a:off x="14097000" y="3905250"/>
            <a:ext cx="3086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Command-center view</a:t>
            </a:r>
          </a:p>
        </p:txBody>
      </p:sp>
      <p:sp>
        <p:nvSpPr>
          <p:cNvPr id="22" name="footer-rule">
            <a:extLst>
              <a:ext uri="{FF2B5EF4-FFF2-40B4-BE49-F238E27FC236}">
                <a16:creationId xmlns:a16="http://schemas.microsoft.com/office/drawing/2014/main" id="{888A3933-6539-4FE3-8B6C-566BC1B1484A}"/>
              </a:ext>
            </a:extLst>
          </p:cNvPr>
          <p:cNvSpPr>
            <a:spLocks noGrp="1"/>
          </p:cNvSpPr>
          <p:nvPr/>
        </p:nvSpPr>
        <p:spPr>
          <a:xfrm>
            <a:off x="838200" y="9563100"/>
            <a:ext cx="1219200" cy="28575"/>
          </a:xfrm>
          <a:prstGeom prst="rect">
            <a:avLst/>
          </a:prstGeom>
          <a:solidFill>
            <a:srgbClr val="0284C7"/>
          </a:solidFill>
          <a:ln w="0">
            <a:solidFill>
              <a:srgbClr val="0284C7"/>
            </a:solidFill>
            <a:prstDash val="solid"/>
          </a:ln>
        </p:spPr>
      </p:sp>
      <p:sp>
        <p:nvSpPr>
          <p:cNvPr id="23" name="footer">
            <a:extLst>
              <a:ext uri="{FF2B5EF4-FFF2-40B4-BE49-F238E27FC236}">
                <a16:creationId xmlns:a16="http://schemas.microsoft.com/office/drawing/2014/main" id="{F492BC01-7CF8-4C4F-BE98-8EF480FA188E}"/>
              </a:ext>
            </a:extLst>
          </p:cNvPr>
          <p:cNvSpPr>
            <a:spLocks noGrp="1"/>
          </p:cNvSpPr>
          <p:nvPr/>
        </p:nvSpPr>
        <p:spPr>
          <a:xfrm>
            <a:off x="2266950" y="9486900"/>
            <a:ext cx="15182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API Observability Platform</a:t>
            </a:r>
          </a:p>
        </p:txBody>
      </p:sp>
    </p:spTree>
    <p:extLst>
      <p:ext uri="{BB962C8B-B14F-4D97-AF65-F5344CB8AC3E}">
        <p14:creationId xmlns:p14="http://schemas.microsoft.com/office/powerpoint/2010/main" val="152036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F5BC7F55-1E10-49CF-ADDC-E558EE038D6A}"/>
              </a:ext>
            </a:extLst>
          </p:cNvPr>
          <p:cNvSpPr>
            <a:spLocks noGrp="1"/>
          </p:cNvSpPr>
          <p:nvPr/>
        </p:nvSpPr>
        <p:spPr>
          <a:xfrm>
            <a:off x="838200" y="609600"/>
            <a:ext cx="982980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Synthetic tests act as operational checks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CE775F4-836A-49DD-9A22-8087CE090225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10420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475569"/>
                </a:solidFill>
              </a:defRPr>
            </a:pPr>
            <a:r>
              <a:rPr sz="1875">
                <a:solidFill>
                  <a:srgbClr val="475569"/>
                </a:solidFill>
              </a:rPr>
              <a:t>The Postman collection is not just a request list; it validates status, schema, content, and response-time SLA.</a:t>
            </a:r>
          </a:p>
        </p:txBody>
      </p:sp>
      <p:sp>
        <p:nvSpPr>
          <p:cNvPr id="3" name="metric-Coverage">
            <a:extLst>
              <a:ext uri="{FF2B5EF4-FFF2-40B4-BE49-F238E27FC236}">
                <a16:creationId xmlns:a16="http://schemas.microsoft.com/office/drawing/2014/main" id="{9CEFD539-B7FA-4DD2-908D-39C6A41E17A9}"/>
              </a:ext>
            </a:extLst>
          </p:cNvPr>
          <p:cNvSpPr>
            <a:spLocks noGrp="1"/>
          </p:cNvSpPr>
          <p:nvPr/>
        </p:nvSpPr>
        <p:spPr>
          <a:xfrm>
            <a:off x="838200" y="2693670"/>
            <a:ext cx="8481060" cy="2063750"/>
          </a:xfrm>
          <a:prstGeom prst="roundRect">
            <a:avLst>
              <a:gd name="adj" fmla="val 8308"/>
            </a:avLst>
          </a:prstGeom>
          <a:noFill/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E6AB49-374C-479D-8B35-2879C8384A2B}"/>
              </a:ext>
            </a:extLst>
          </p:cNvPr>
          <p:cNvSpPr>
            <a:spLocks noGrp="1"/>
          </p:cNvSpPr>
          <p:nvPr/>
        </p:nvSpPr>
        <p:spPr>
          <a:xfrm>
            <a:off x="1104900" y="2914650"/>
            <a:ext cx="7943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COVERAGE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E19C1C-EB39-493E-9B64-2220DBAC07FC}"/>
              </a:ext>
            </a:extLst>
          </p:cNvPr>
          <p:cNvSpPr>
            <a:spLocks noGrp="1"/>
          </p:cNvSpPr>
          <p:nvPr/>
        </p:nvSpPr>
        <p:spPr>
          <a:xfrm>
            <a:off x="1104900" y="3219450"/>
            <a:ext cx="79438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4 endpoints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C24D9D-D0AC-4DE5-A88D-E45DF2E71F9A}"/>
              </a:ext>
            </a:extLst>
          </p:cNvPr>
          <p:cNvSpPr>
            <a:spLocks noGrp="1"/>
          </p:cNvSpPr>
          <p:nvPr/>
        </p:nvSpPr>
        <p:spPr>
          <a:xfrm>
            <a:off x="1104900" y="3905250"/>
            <a:ext cx="7943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GET /health, GET /users, GET /posts, POST /posts</a:t>
            </a:r>
          </a:p>
        </p:txBody>
      </p:sp>
      <p:sp>
        <p:nvSpPr>
          <p:cNvPr id="7" name="metric-Assertions">
            <a:extLst>
              <a:ext uri="{FF2B5EF4-FFF2-40B4-BE49-F238E27FC236}">
                <a16:creationId xmlns:a16="http://schemas.microsoft.com/office/drawing/2014/main" id="{BFE3F2A5-3AEC-4DA5-AE31-2A7478909E7F}"/>
              </a:ext>
            </a:extLst>
          </p:cNvPr>
          <p:cNvSpPr>
            <a:spLocks noGrp="1"/>
          </p:cNvSpPr>
          <p:nvPr/>
        </p:nvSpPr>
        <p:spPr>
          <a:xfrm>
            <a:off x="838200" y="4928870"/>
            <a:ext cx="8481060" cy="2063750"/>
          </a:xfrm>
          <a:prstGeom prst="roundRect">
            <a:avLst>
              <a:gd name="adj" fmla="val 8308"/>
            </a:avLst>
          </a:prstGeom>
          <a:noFill/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C5A67E-2516-4279-B92A-85ECE39D936E}"/>
              </a:ext>
            </a:extLst>
          </p:cNvPr>
          <p:cNvSpPr>
            <a:spLocks noGrp="1"/>
          </p:cNvSpPr>
          <p:nvPr/>
        </p:nvSpPr>
        <p:spPr>
          <a:xfrm>
            <a:off x="1104900" y="5162550"/>
            <a:ext cx="7943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ASSERTIONS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45A81A-BEE1-45F3-BBB2-51D7CE21DB48}"/>
              </a:ext>
            </a:extLst>
          </p:cNvPr>
          <p:cNvSpPr>
            <a:spLocks noGrp="1"/>
          </p:cNvSpPr>
          <p:nvPr/>
        </p:nvSpPr>
        <p:spPr>
          <a:xfrm>
            <a:off x="1104900" y="5467350"/>
            <a:ext cx="79438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16 passed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5DD84D-CFA2-4FC1-95B5-53A342D50933}"/>
              </a:ext>
            </a:extLst>
          </p:cNvPr>
          <p:cNvSpPr>
            <a:spLocks noGrp="1"/>
          </p:cNvSpPr>
          <p:nvPr/>
        </p:nvSpPr>
        <p:spPr>
          <a:xfrm>
            <a:off x="1104900" y="6153150"/>
            <a:ext cx="7943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Status codes, schemas, content, SLA</a:t>
            </a:r>
          </a:p>
        </p:txBody>
      </p:sp>
      <p:sp>
        <p:nvSpPr>
          <p:cNvPr id="11" name="metric-Artifacts">
            <a:extLst>
              <a:ext uri="{FF2B5EF4-FFF2-40B4-BE49-F238E27FC236}">
                <a16:creationId xmlns:a16="http://schemas.microsoft.com/office/drawing/2014/main" id="{5EF5B770-1A2A-47EC-8420-1BFF233EEE2B}"/>
              </a:ext>
            </a:extLst>
          </p:cNvPr>
          <p:cNvSpPr>
            <a:spLocks noGrp="1"/>
          </p:cNvSpPr>
          <p:nvPr/>
        </p:nvSpPr>
        <p:spPr>
          <a:xfrm>
            <a:off x="838200" y="7164070"/>
            <a:ext cx="8481060" cy="2063750"/>
          </a:xfrm>
          <a:prstGeom prst="roundRect">
            <a:avLst>
              <a:gd name="adj" fmla="val 8308"/>
            </a:avLst>
          </a:prstGeom>
          <a:noFill/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BFDDC3-5F68-4C55-A82C-1EE751331804}"/>
              </a:ext>
            </a:extLst>
          </p:cNvPr>
          <p:cNvSpPr>
            <a:spLocks noGrp="1"/>
          </p:cNvSpPr>
          <p:nvPr/>
        </p:nvSpPr>
        <p:spPr>
          <a:xfrm>
            <a:off x="1104900" y="7391400"/>
            <a:ext cx="79438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ARTIFACTS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5FD67F-35F1-4F3B-8F49-1D4AB0706DFA}"/>
              </a:ext>
            </a:extLst>
          </p:cNvPr>
          <p:cNvSpPr>
            <a:spLocks noGrp="1"/>
          </p:cNvSpPr>
          <p:nvPr/>
        </p:nvSpPr>
        <p:spPr>
          <a:xfrm>
            <a:off x="1104900" y="7696200"/>
            <a:ext cx="79438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JSON metrics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4BF65D-8961-462D-87B2-EC89B109FCB1}"/>
              </a:ext>
            </a:extLst>
          </p:cNvPr>
          <p:cNvSpPr>
            <a:spLocks noGrp="1"/>
          </p:cNvSpPr>
          <p:nvPr/>
        </p:nvSpPr>
        <p:spPr>
          <a:xfrm>
            <a:off x="1104900" y="8382000"/>
            <a:ext cx="7943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Endpoint, method, status, latency, timestamp</a:t>
            </a:r>
          </a:p>
        </p:txBody>
      </p:sp>
      <p:graphicFrame>
        <p:nvGraphicFramePr>
          <p:cNvPr id="15" name="newman-latency-chart"/>
          <p:cNvGraphicFramePr/>
          <p:nvPr/>
        </p:nvGraphicFramePr>
        <p:xfrm>
          <a:off x="9776460" y="2693670"/>
          <a:ext cx="7673340" cy="653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footer-rule">
            <a:extLst>
              <a:ext uri="{FF2B5EF4-FFF2-40B4-BE49-F238E27FC236}">
                <a16:creationId xmlns:a16="http://schemas.microsoft.com/office/drawing/2014/main" id="{B96B396F-A244-4461-902C-133A487C98B2}"/>
              </a:ext>
            </a:extLst>
          </p:cNvPr>
          <p:cNvSpPr>
            <a:spLocks noGrp="1"/>
          </p:cNvSpPr>
          <p:nvPr/>
        </p:nvSpPr>
        <p:spPr>
          <a:xfrm>
            <a:off x="838200" y="9563100"/>
            <a:ext cx="1219200" cy="28575"/>
          </a:xfrm>
          <a:prstGeom prst="rect">
            <a:avLst/>
          </a:prstGeom>
          <a:solidFill>
            <a:srgbClr val="0284C7"/>
          </a:solidFill>
          <a:ln w="0">
            <a:solidFill>
              <a:srgbClr val="0284C7"/>
            </a:solidFill>
            <a:prstDash val="solid"/>
          </a:ln>
        </p:spPr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B7AFEA01-AEA8-4031-90D4-1391410AE93F}"/>
              </a:ext>
            </a:extLst>
          </p:cNvPr>
          <p:cNvSpPr>
            <a:spLocks noGrp="1"/>
          </p:cNvSpPr>
          <p:nvPr/>
        </p:nvSpPr>
        <p:spPr>
          <a:xfrm>
            <a:off x="2266950" y="9486900"/>
            <a:ext cx="15182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API Observability Platform</a:t>
            </a:r>
          </a:p>
        </p:txBody>
      </p:sp>
    </p:spTree>
    <p:extLst>
      <p:ext uri="{BB962C8B-B14F-4D97-AF65-F5344CB8AC3E}">
        <p14:creationId xmlns:p14="http://schemas.microsoft.com/office/powerpoint/2010/main" val="609526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title">
            <a:extLst>
              <a:ext uri="{FF2B5EF4-FFF2-40B4-BE49-F238E27FC236}">
                <a16:creationId xmlns:a16="http://schemas.microsoft.com/office/drawing/2014/main" id="{9F42669B-2701-40A3-9152-6EB90CCCB7D8}"/>
              </a:ext>
            </a:extLst>
          </p:cNvPr>
          <p:cNvSpPr>
            <a:spLocks noGrp="1"/>
          </p:cNvSpPr>
          <p:nvPr/>
        </p:nvSpPr>
        <p:spPr>
          <a:xfrm>
            <a:off x="838200" y="609600"/>
            <a:ext cx="1205865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Prometheus instrumentation makes API behavior measurable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12A77621-0CF3-4DE8-A214-8F669118A0C7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11029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475569"/>
                </a:solidFill>
              </a:defRPr>
            </a:pPr>
            <a:r>
              <a:rPr sz="1875">
                <a:solidFill>
                  <a:srgbClr val="475569"/>
                </a:solidFill>
              </a:rPr>
              <a:t>Express middleware turns each request into counters, latency buckets, error counts, endpoint gauges, and uptime.</a:t>
            </a:r>
          </a:p>
        </p:txBody>
      </p:sp>
      <p:sp>
        <p:nvSpPr>
          <p:cNvPr id="3" name="metric-api_request_count">
            <a:extLst>
              <a:ext uri="{FF2B5EF4-FFF2-40B4-BE49-F238E27FC236}">
                <a16:creationId xmlns:a16="http://schemas.microsoft.com/office/drawing/2014/main" id="{EE7391D1-7B51-4A40-A370-7909958A88D1}"/>
              </a:ext>
            </a:extLst>
          </p:cNvPr>
          <p:cNvSpPr>
            <a:spLocks noGrp="1"/>
          </p:cNvSpPr>
          <p:nvPr/>
        </p:nvSpPr>
        <p:spPr>
          <a:xfrm>
            <a:off x="838200" y="2693670"/>
            <a:ext cx="8305800" cy="3267075"/>
          </a:xfrm>
          <a:prstGeom prst="roundRect">
            <a:avLst>
              <a:gd name="adj" fmla="val 5248"/>
            </a:avLst>
          </a:prstGeom>
          <a:noFill/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68882B-2317-49F7-888C-404A97F60BB5}"/>
              </a:ext>
            </a:extLst>
          </p:cNvPr>
          <p:cNvSpPr>
            <a:spLocks noGrp="1"/>
          </p:cNvSpPr>
          <p:nvPr/>
        </p:nvSpPr>
        <p:spPr>
          <a:xfrm>
            <a:off x="1104900" y="2914650"/>
            <a:ext cx="7772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API_REQUEST_COUNT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267DA4-9B3B-48F7-8D88-FA1A4D84FB7E}"/>
              </a:ext>
            </a:extLst>
          </p:cNvPr>
          <p:cNvSpPr>
            <a:spLocks noGrp="1"/>
          </p:cNvSpPr>
          <p:nvPr/>
        </p:nvSpPr>
        <p:spPr>
          <a:xfrm>
            <a:off x="1104900" y="3219450"/>
            <a:ext cx="77724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volume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ADACDD-3CD0-4D01-A803-3279930DF61C}"/>
              </a:ext>
            </a:extLst>
          </p:cNvPr>
          <p:cNvSpPr>
            <a:spLocks noGrp="1"/>
          </p:cNvSpPr>
          <p:nvPr/>
        </p:nvSpPr>
        <p:spPr>
          <a:xfrm>
            <a:off x="1104900" y="3905250"/>
            <a:ext cx="7772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Total requests by method, route, and status code</a:t>
            </a:r>
          </a:p>
        </p:txBody>
      </p:sp>
      <p:sp>
        <p:nvSpPr>
          <p:cNvPr id="7" name="metric-api_response_time_seconds">
            <a:extLst>
              <a:ext uri="{FF2B5EF4-FFF2-40B4-BE49-F238E27FC236}">
                <a16:creationId xmlns:a16="http://schemas.microsoft.com/office/drawing/2014/main" id="{2245EC85-6982-4A9F-BF6B-B58A001DBDF5}"/>
              </a:ext>
            </a:extLst>
          </p:cNvPr>
          <p:cNvSpPr>
            <a:spLocks noGrp="1"/>
          </p:cNvSpPr>
          <p:nvPr/>
        </p:nvSpPr>
        <p:spPr>
          <a:xfrm>
            <a:off x="9144000" y="2693670"/>
            <a:ext cx="8305800" cy="3267075"/>
          </a:xfrm>
          <a:prstGeom prst="roundRect">
            <a:avLst>
              <a:gd name="adj" fmla="val 5248"/>
            </a:avLst>
          </a:prstGeom>
          <a:noFill/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1AF67B-6C88-4230-8988-EFB638318F60}"/>
              </a:ext>
            </a:extLst>
          </p:cNvPr>
          <p:cNvSpPr>
            <a:spLocks noGrp="1"/>
          </p:cNvSpPr>
          <p:nvPr/>
        </p:nvSpPr>
        <p:spPr>
          <a:xfrm>
            <a:off x="9410700" y="2914650"/>
            <a:ext cx="7772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API_RESPONSE_TIME_SECONDS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3F7116-DB92-44F4-84E7-30C279DF9157}"/>
              </a:ext>
            </a:extLst>
          </p:cNvPr>
          <p:cNvSpPr>
            <a:spLocks noGrp="1"/>
          </p:cNvSpPr>
          <p:nvPr/>
        </p:nvSpPr>
        <p:spPr>
          <a:xfrm>
            <a:off x="9410700" y="3219450"/>
            <a:ext cx="77724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latency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1A702D-EE90-4EF1-B810-42E0B19B7837}"/>
              </a:ext>
            </a:extLst>
          </p:cNvPr>
          <p:cNvSpPr>
            <a:spLocks noGrp="1"/>
          </p:cNvSpPr>
          <p:nvPr/>
        </p:nvSpPr>
        <p:spPr>
          <a:xfrm>
            <a:off x="9410700" y="3905250"/>
            <a:ext cx="7772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Histogram used for p95 and SLA compliance</a:t>
            </a:r>
          </a:p>
        </p:txBody>
      </p:sp>
      <p:sp>
        <p:nvSpPr>
          <p:cNvPr id="11" name="metric-api_error_count">
            <a:extLst>
              <a:ext uri="{FF2B5EF4-FFF2-40B4-BE49-F238E27FC236}">
                <a16:creationId xmlns:a16="http://schemas.microsoft.com/office/drawing/2014/main" id="{A401C145-7996-4A48-AF9F-E25D82DA37AB}"/>
              </a:ext>
            </a:extLst>
          </p:cNvPr>
          <p:cNvSpPr>
            <a:spLocks noGrp="1"/>
          </p:cNvSpPr>
          <p:nvPr/>
        </p:nvSpPr>
        <p:spPr>
          <a:xfrm>
            <a:off x="838200" y="5960745"/>
            <a:ext cx="8305800" cy="3267075"/>
          </a:xfrm>
          <a:prstGeom prst="roundRect">
            <a:avLst>
              <a:gd name="adj" fmla="val 5248"/>
            </a:avLst>
          </a:prstGeom>
          <a:noFill/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2620C5-039B-43EA-85A8-A28F66A76CE1}"/>
              </a:ext>
            </a:extLst>
          </p:cNvPr>
          <p:cNvSpPr>
            <a:spLocks noGrp="1"/>
          </p:cNvSpPr>
          <p:nvPr/>
        </p:nvSpPr>
        <p:spPr>
          <a:xfrm>
            <a:off x="1104900" y="6191250"/>
            <a:ext cx="7772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E11D48"/>
                </a:solidFill>
              </a:defRPr>
            </a:pPr>
            <a:r>
              <a:rPr sz="1125" b="1">
                <a:solidFill>
                  <a:srgbClr val="E11D48"/>
                </a:solidFill>
              </a:rPr>
              <a:t>API_ERROR_COUNT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B54D41-B2CF-4F5D-9EC2-E1DEE4824DDF}"/>
              </a:ext>
            </a:extLst>
          </p:cNvPr>
          <p:cNvSpPr>
            <a:spLocks noGrp="1"/>
          </p:cNvSpPr>
          <p:nvPr/>
        </p:nvSpPr>
        <p:spPr>
          <a:xfrm>
            <a:off x="1104900" y="6496050"/>
            <a:ext cx="77724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reliability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19180A-7C03-459A-A5A1-7B98CF636ACA}"/>
              </a:ext>
            </a:extLst>
          </p:cNvPr>
          <p:cNvSpPr>
            <a:spLocks noGrp="1"/>
          </p:cNvSpPr>
          <p:nvPr/>
        </p:nvSpPr>
        <p:spPr>
          <a:xfrm>
            <a:off x="1104900" y="7181850"/>
            <a:ext cx="7772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Error-rate source for failed request panels</a:t>
            </a:r>
          </a:p>
        </p:txBody>
      </p:sp>
      <p:sp>
        <p:nvSpPr>
          <p:cNvPr id="15" name="metric-api_endpoint_latency_ms">
            <a:extLst>
              <a:ext uri="{FF2B5EF4-FFF2-40B4-BE49-F238E27FC236}">
                <a16:creationId xmlns:a16="http://schemas.microsoft.com/office/drawing/2014/main" id="{47991CD0-9871-4B14-927E-BE18AFCC845A}"/>
              </a:ext>
            </a:extLst>
          </p:cNvPr>
          <p:cNvSpPr>
            <a:spLocks noGrp="1"/>
          </p:cNvSpPr>
          <p:nvPr/>
        </p:nvSpPr>
        <p:spPr>
          <a:xfrm>
            <a:off x="9144000" y="5960745"/>
            <a:ext cx="8305800" cy="3267075"/>
          </a:xfrm>
          <a:prstGeom prst="roundRect">
            <a:avLst>
              <a:gd name="adj" fmla="val 5248"/>
            </a:avLst>
          </a:prstGeom>
          <a:noFill/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30FF6E-E245-4C6C-B47D-46DB62FBA50F}"/>
              </a:ext>
            </a:extLst>
          </p:cNvPr>
          <p:cNvSpPr>
            <a:spLocks noGrp="1"/>
          </p:cNvSpPr>
          <p:nvPr/>
        </p:nvSpPr>
        <p:spPr>
          <a:xfrm>
            <a:off x="9410700" y="6191250"/>
            <a:ext cx="77724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API_ENDPOINT_LATENCY_MS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645C8-3A0B-4B42-850F-6A2BA5B9BB60}"/>
              </a:ext>
            </a:extLst>
          </p:cNvPr>
          <p:cNvSpPr>
            <a:spLocks noGrp="1"/>
          </p:cNvSpPr>
          <p:nvPr/>
        </p:nvSpPr>
        <p:spPr>
          <a:xfrm>
            <a:off x="9410700" y="6496050"/>
            <a:ext cx="77724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freshness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7F22D1-B6C4-4D9C-A96B-5CEAE43D7688}"/>
              </a:ext>
            </a:extLst>
          </p:cNvPr>
          <p:cNvSpPr>
            <a:spLocks noGrp="1"/>
          </p:cNvSpPr>
          <p:nvPr/>
        </p:nvSpPr>
        <p:spPr>
          <a:xfrm>
            <a:off x="9410700" y="7181850"/>
            <a:ext cx="7772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Last observed endpoint latency comparison</a:t>
            </a:r>
          </a:p>
        </p:txBody>
      </p:sp>
      <p:sp>
        <p:nvSpPr>
          <p:cNvPr id="19" name="footer-rule">
            <a:extLst>
              <a:ext uri="{FF2B5EF4-FFF2-40B4-BE49-F238E27FC236}">
                <a16:creationId xmlns:a16="http://schemas.microsoft.com/office/drawing/2014/main" id="{72DD5326-C0D5-428A-BEDA-D8CFD8647814}"/>
              </a:ext>
            </a:extLst>
          </p:cNvPr>
          <p:cNvSpPr>
            <a:spLocks noGrp="1"/>
          </p:cNvSpPr>
          <p:nvPr/>
        </p:nvSpPr>
        <p:spPr>
          <a:xfrm>
            <a:off x="838200" y="9563100"/>
            <a:ext cx="1219200" cy="28575"/>
          </a:xfrm>
          <a:prstGeom prst="rect">
            <a:avLst/>
          </a:prstGeom>
          <a:solidFill>
            <a:srgbClr val="0284C7"/>
          </a:solidFill>
          <a:ln w="0">
            <a:solidFill>
              <a:srgbClr val="0284C7"/>
            </a:solidFill>
            <a:prstDash val="solid"/>
          </a:ln>
        </p:spPr>
      </p:sp>
      <p:sp>
        <p:nvSpPr>
          <p:cNvPr id="20" name="footer">
            <a:extLst>
              <a:ext uri="{FF2B5EF4-FFF2-40B4-BE49-F238E27FC236}">
                <a16:creationId xmlns:a16="http://schemas.microsoft.com/office/drawing/2014/main" id="{40DF3DCA-9423-4024-A70F-6559A07E4315}"/>
              </a:ext>
            </a:extLst>
          </p:cNvPr>
          <p:cNvSpPr>
            <a:spLocks noGrp="1"/>
          </p:cNvSpPr>
          <p:nvPr/>
        </p:nvSpPr>
        <p:spPr>
          <a:xfrm>
            <a:off x="2266950" y="9486900"/>
            <a:ext cx="15182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API Observability Platform</a:t>
            </a:r>
          </a:p>
        </p:txBody>
      </p:sp>
    </p:spTree>
    <p:extLst>
      <p:ext uri="{BB962C8B-B14F-4D97-AF65-F5344CB8AC3E}">
        <p14:creationId xmlns:p14="http://schemas.microsoft.com/office/powerpoint/2010/main" val="1098529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-title">
            <a:extLst>
              <a:ext uri="{FF2B5EF4-FFF2-40B4-BE49-F238E27FC236}">
                <a16:creationId xmlns:a16="http://schemas.microsoft.com/office/drawing/2014/main" id="{3F543E3A-018B-4BBE-8BC7-C3E6E73BFDE9}"/>
              </a:ext>
            </a:extLst>
          </p:cNvPr>
          <p:cNvSpPr>
            <a:spLocks noGrp="1"/>
          </p:cNvSpPr>
          <p:nvPr/>
        </p:nvSpPr>
        <p:spPr>
          <a:xfrm>
            <a:off x="838200" y="609600"/>
            <a:ext cx="119824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Grafana dashboard is organized by SRE questions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BADAD8BA-6E49-4CA7-9D15-F253D64F3140}"/>
              </a:ext>
            </a:extLst>
          </p:cNvPr>
          <p:cNvSpPr>
            <a:spLocks noGrp="1"/>
          </p:cNvSpPr>
          <p:nvPr/>
        </p:nvSpPr>
        <p:spPr>
          <a:xfrm>
            <a:off x="838200" y="2270760"/>
            <a:ext cx="7696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475569"/>
                </a:solidFill>
              </a:defRPr>
            </a:pPr>
            <a:r>
              <a:rPr sz="1875" dirty="0">
                <a:solidFill>
                  <a:srgbClr val="475569"/>
                </a:solidFill>
              </a:rPr>
              <a:t>Three rows separate the live read: health first, performance next, reliability last.</a:t>
            </a:r>
          </a:p>
        </p:txBody>
      </p:sp>
      <p:sp>
        <p:nvSpPr>
          <p:cNvPr id="3" name="metric-Row 1">
            <a:extLst>
              <a:ext uri="{FF2B5EF4-FFF2-40B4-BE49-F238E27FC236}">
                <a16:creationId xmlns:a16="http://schemas.microsoft.com/office/drawing/2014/main" id="{03C74787-D47D-45C5-9A61-20ABE4A9A810}"/>
              </a:ext>
            </a:extLst>
          </p:cNvPr>
          <p:cNvSpPr>
            <a:spLocks noGrp="1"/>
          </p:cNvSpPr>
          <p:nvPr/>
        </p:nvSpPr>
        <p:spPr>
          <a:xfrm>
            <a:off x="838200" y="2270760"/>
            <a:ext cx="5537200" cy="6957060"/>
          </a:xfrm>
          <a:prstGeom prst="roundRect">
            <a:avLst>
              <a:gd name="adj" fmla="val 3096"/>
            </a:avLst>
          </a:prstGeom>
          <a:noFill/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5C9D42-F29C-4805-8B0D-6C1A98BAB201}"/>
              </a:ext>
            </a:extLst>
          </p:cNvPr>
          <p:cNvSpPr>
            <a:spLocks noGrp="1"/>
          </p:cNvSpPr>
          <p:nvPr/>
        </p:nvSpPr>
        <p:spPr>
          <a:xfrm>
            <a:off x="1104900" y="3943350"/>
            <a:ext cx="50101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ROW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B6C1C2-8BFF-47AD-A3AB-8168CA43F965}"/>
              </a:ext>
            </a:extLst>
          </p:cNvPr>
          <p:cNvSpPr>
            <a:spLocks noGrp="1"/>
          </p:cNvSpPr>
          <p:nvPr/>
        </p:nvSpPr>
        <p:spPr>
          <a:xfrm>
            <a:off x="1104900" y="4248150"/>
            <a:ext cx="50101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System Health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276E5D-79E6-4A50-9E4B-1A4F3B6E52E3}"/>
              </a:ext>
            </a:extLst>
          </p:cNvPr>
          <p:cNvSpPr>
            <a:spLocks noGrp="1"/>
          </p:cNvSpPr>
          <p:nvPr/>
        </p:nvSpPr>
        <p:spPr>
          <a:xfrm>
            <a:off x="1104900" y="4933950"/>
            <a:ext cx="5010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Uptime, average latency, total requests, SLA compliance</a:t>
            </a:r>
          </a:p>
        </p:txBody>
      </p:sp>
      <p:sp>
        <p:nvSpPr>
          <p:cNvPr id="7" name="metric-Row 2">
            <a:extLst>
              <a:ext uri="{FF2B5EF4-FFF2-40B4-BE49-F238E27FC236}">
                <a16:creationId xmlns:a16="http://schemas.microsoft.com/office/drawing/2014/main" id="{85DD617F-1015-4A7C-9AA2-9E304F0C14B2}"/>
              </a:ext>
            </a:extLst>
          </p:cNvPr>
          <p:cNvSpPr>
            <a:spLocks noGrp="1"/>
          </p:cNvSpPr>
          <p:nvPr/>
        </p:nvSpPr>
        <p:spPr>
          <a:xfrm>
            <a:off x="6375400" y="2270760"/>
            <a:ext cx="5537200" cy="6957060"/>
          </a:xfrm>
          <a:prstGeom prst="roundRect">
            <a:avLst>
              <a:gd name="adj" fmla="val 3096"/>
            </a:avLst>
          </a:prstGeom>
          <a:noFill/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F6BC68-5509-4F31-BB27-1486A6FFF7FC}"/>
              </a:ext>
            </a:extLst>
          </p:cNvPr>
          <p:cNvSpPr>
            <a:spLocks noGrp="1"/>
          </p:cNvSpPr>
          <p:nvPr/>
        </p:nvSpPr>
        <p:spPr>
          <a:xfrm>
            <a:off x="6648450" y="3943350"/>
            <a:ext cx="50101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ROW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B4EBB0-3AD7-4137-9301-F01EE0B33C78}"/>
              </a:ext>
            </a:extLst>
          </p:cNvPr>
          <p:cNvSpPr>
            <a:spLocks noGrp="1"/>
          </p:cNvSpPr>
          <p:nvPr/>
        </p:nvSpPr>
        <p:spPr>
          <a:xfrm>
            <a:off x="6648450" y="4248150"/>
            <a:ext cx="50101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Performance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6B2E6B-CE7D-4BAA-9E29-171C0A255B70}"/>
              </a:ext>
            </a:extLst>
          </p:cNvPr>
          <p:cNvSpPr>
            <a:spLocks noGrp="1"/>
          </p:cNvSpPr>
          <p:nvPr/>
        </p:nvSpPr>
        <p:spPr>
          <a:xfrm>
            <a:off x="6648450" y="4933950"/>
            <a:ext cx="5010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Response trend, endpoint comparison, requests/sec</a:t>
            </a:r>
          </a:p>
        </p:txBody>
      </p:sp>
      <p:sp>
        <p:nvSpPr>
          <p:cNvPr id="11" name="metric-Row 3">
            <a:extLst>
              <a:ext uri="{FF2B5EF4-FFF2-40B4-BE49-F238E27FC236}">
                <a16:creationId xmlns:a16="http://schemas.microsoft.com/office/drawing/2014/main" id="{D4180B5C-A91B-48A2-9DCE-A18B6C2DF2E4}"/>
              </a:ext>
            </a:extLst>
          </p:cNvPr>
          <p:cNvSpPr>
            <a:spLocks noGrp="1"/>
          </p:cNvSpPr>
          <p:nvPr/>
        </p:nvSpPr>
        <p:spPr>
          <a:xfrm>
            <a:off x="11912600" y="2270760"/>
            <a:ext cx="5537200" cy="6957060"/>
          </a:xfrm>
          <a:prstGeom prst="roundRect">
            <a:avLst>
              <a:gd name="adj" fmla="val 3096"/>
            </a:avLst>
          </a:prstGeom>
          <a:noFill/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7047E7-653F-43B5-AE24-A7B3A134BE81}"/>
              </a:ext>
            </a:extLst>
          </p:cNvPr>
          <p:cNvSpPr>
            <a:spLocks noGrp="1"/>
          </p:cNvSpPr>
          <p:nvPr/>
        </p:nvSpPr>
        <p:spPr>
          <a:xfrm>
            <a:off x="12172950" y="3943350"/>
            <a:ext cx="50101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E11D48"/>
                </a:solidFill>
              </a:defRPr>
            </a:pPr>
            <a:r>
              <a:rPr sz="1125" b="1">
                <a:solidFill>
                  <a:srgbClr val="E11D48"/>
                </a:solidFill>
              </a:rPr>
              <a:t>ROW 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6B3C29-57E7-413F-8B33-C3B12EA8623F}"/>
              </a:ext>
            </a:extLst>
          </p:cNvPr>
          <p:cNvSpPr>
            <a:spLocks noGrp="1"/>
          </p:cNvSpPr>
          <p:nvPr/>
        </p:nvSpPr>
        <p:spPr>
          <a:xfrm>
            <a:off x="12172950" y="4248150"/>
            <a:ext cx="50101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Reliability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3E442C-1679-4913-A536-517234300F16}"/>
              </a:ext>
            </a:extLst>
          </p:cNvPr>
          <p:cNvSpPr>
            <a:spLocks noGrp="1"/>
          </p:cNvSpPr>
          <p:nvPr/>
        </p:nvSpPr>
        <p:spPr>
          <a:xfrm>
            <a:off x="12172950" y="4933950"/>
            <a:ext cx="5010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Error rate, failed requests, recent failures table</a:t>
            </a:r>
          </a:p>
        </p:txBody>
      </p:sp>
      <p:sp>
        <p:nvSpPr>
          <p:cNvPr id="15" name="footer-rule">
            <a:extLst>
              <a:ext uri="{FF2B5EF4-FFF2-40B4-BE49-F238E27FC236}">
                <a16:creationId xmlns:a16="http://schemas.microsoft.com/office/drawing/2014/main" id="{D3F07A0D-3C18-4F1E-8B22-BED2F589A82B}"/>
              </a:ext>
            </a:extLst>
          </p:cNvPr>
          <p:cNvSpPr>
            <a:spLocks noGrp="1"/>
          </p:cNvSpPr>
          <p:nvPr/>
        </p:nvSpPr>
        <p:spPr>
          <a:xfrm>
            <a:off x="838200" y="9563100"/>
            <a:ext cx="1219200" cy="28575"/>
          </a:xfrm>
          <a:prstGeom prst="rect">
            <a:avLst/>
          </a:prstGeom>
          <a:solidFill>
            <a:srgbClr val="0284C7"/>
          </a:solidFill>
          <a:ln w="0">
            <a:solidFill>
              <a:srgbClr val="0284C7"/>
            </a:solidFill>
            <a:prstDash val="solid"/>
          </a:ln>
        </p:spPr>
      </p:sp>
      <p:sp>
        <p:nvSpPr>
          <p:cNvPr id="16" name="footer">
            <a:extLst>
              <a:ext uri="{FF2B5EF4-FFF2-40B4-BE49-F238E27FC236}">
                <a16:creationId xmlns:a16="http://schemas.microsoft.com/office/drawing/2014/main" id="{DA7B6095-176E-4E20-A8F3-CFC40B9A17E7}"/>
              </a:ext>
            </a:extLst>
          </p:cNvPr>
          <p:cNvSpPr>
            <a:spLocks noGrp="1"/>
          </p:cNvSpPr>
          <p:nvPr/>
        </p:nvSpPr>
        <p:spPr>
          <a:xfrm>
            <a:off x="2266950" y="9486900"/>
            <a:ext cx="15182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API Observability Platform</a:t>
            </a:r>
          </a:p>
        </p:txBody>
      </p:sp>
    </p:spTree>
    <p:extLst>
      <p:ext uri="{BB962C8B-B14F-4D97-AF65-F5344CB8AC3E}">
        <p14:creationId xmlns:p14="http://schemas.microsoft.com/office/powerpoint/2010/main" val="1325791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0666D513-84D5-46DD-AA5E-1B4631C6A7DF}"/>
              </a:ext>
            </a:extLst>
          </p:cNvPr>
          <p:cNvSpPr>
            <a:spLocks noGrp="1"/>
          </p:cNvSpPr>
          <p:nvPr/>
        </p:nvSpPr>
        <p:spPr>
          <a:xfrm>
            <a:off x="838200" y="609600"/>
            <a:ext cx="1057275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Docker Compose turns the repo into a local observability lab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3678F7F4-D82D-4DDA-AEEC-4BD3EA150267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10553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475569"/>
                </a:solidFill>
              </a:defRPr>
            </a:pPr>
            <a:r>
              <a:rPr sz="1875">
                <a:solidFill>
                  <a:srgbClr val="475569"/>
                </a:solidFill>
              </a:rPr>
              <a:t>One command starts the API, Prometheus, and Grafana with provisioned dashboards and persistent volumes.</a:t>
            </a:r>
          </a:p>
        </p:txBody>
      </p:sp>
      <p:sp>
        <p:nvSpPr>
          <p:cNvPr id="3" name="metric-Startup">
            <a:extLst>
              <a:ext uri="{FF2B5EF4-FFF2-40B4-BE49-F238E27FC236}">
                <a16:creationId xmlns:a16="http://schemas.microsoft.com/office/drawing/2014/main" id="{9BCF0CCE-7B85-4A32-B86C-334F4B25B01E}"/>
              </a:ext>
            </a:extLst>
          </p:cNvPr>
          <p:cNvSpPr>
            <a:spLocks noGrp="1"/>
          </p:cNvSpPr>
          <p:nvPr/>
        </p:nvSpPr>
        <p:spPr>
          <a:xfrm>
            <a:off x="838200" y="2693670"/>
            <a:ext cx="8105775" cy="2063750"/>
          </a:xfrm>
          <a:prstGeom prst="roundRect">
            <a:avLst>
              <a:gd name="adj" fmla="val 8308"/>
            </a:avLst>
          </a:prstGeom>
          <a:noFill/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CA5906-70C6-4D15-B467-02D0B4D93054}"/>
              </a:ext>
            </a:extLst>
          </p:cNvPr>
          <p:cNvSpPr>
            <a:spLocks noGrp="1"/>
          </p:cNvSpPr>
          <p:nvPr/>
        </p:nvSpPr>
        <p:spPr>
          <a:xfrm>
            <a:off x="1104900" y="2914650"/>
            <a:ext cx="75819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STARTUP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8FE62B-7D74-431C-8A65-B38A3F41AAF8}"/>
              </a:ext>
            </a:extLst>
          </p:cNvPr>
          <p:cNvSpPr>
            <a:spLocks noGrp="1"/>
          </p:cNvSpPr>
          <p:nvPr/>
        </p:nvSpPr>
        <p:spPr>
          <a:xfrm>
            <a:off x="1104900" y="3219450"/>
            <a:ext cx="75819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docker compose up --build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5FF696-5EF6-449E-980F-D828A90FBF51}"/>
              </a:ext>
            </a:extLst>
          </p:cNvPr>
          <p:cNvSpPr>
            <a:spLocks noGrp="1"/>
          </p:cNvSpPr>
          <p:nvPr/>
        </p:nvSpPr>
        <p:spPr>
          <a:xfrm>
            <a:off x="1104900" y="3905250"/>
            <a:ext cx="7581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Single-command local stack</a:t>
            </a:r>
          </a:p>
        </p:txBody>
      </p:sp>
      <p:sp>
        <p:nvSpPr>
          <p:cNvPr id="7" name="metric-CI">
            <a:extLst>
              <a:ext uri="{FF2B5EF4-FFF2-40B4-BE49-F238E27FC236}">
                <a16:creationId xmlns:a16="http://schemas.microsoft.com/office/drawing/2014/main" id="{20914B03-A611-441C-AA99-19569C532F29}"/>
              </a:ext>
            </a:extLst>
          </p:cNvPr>
          <p:cNvSpPr>
            <a:spLocks noGrp="1"/>
          </p:cNvSpPr>
          <p:nvPr/>
        </p:nvSpPr>
        <p:spPr>
          <a:xfrm>
            <a:off x="838200" y="4928870"/>
            <a:ext cx="8105775" cy="2063750"/>
          </a:xfrm>
          <a:prstGeom prst="roundRect">
            <a:avLst>
              <a:gd name="adj" fmla="val 8308"/>
            </a:avLst>
          </a:prstGeom>
          <a:noFill/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54BE2-E8D5-4756-96DA-3CE746C2714E}"/>
              </a:ext>
            </a:extLst>
          </p:cNvPr>
          <p:cNvSpPr>
            <a:spLocks noGrp="1"/>
          </p:cNvSpPr>
          <p:nvPr/>
        </p:nvSpPr>
        <p:spPr>
          <a:xfrm>
            <a:off x="1104900" y="5162550"/>
            <a:ext cx="75819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CI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4A1F03-6F0D-4491-93FD-1ACB69EF6E9A}"/>
              </a:ext>
            </a:extLst>
          </p:cNvPr>
          <p:cNvSpPr>
            <a:spLocks noGrp="1"/>
          </p:cNvSpPr>
          <p:nvPr/>
        </p:nvSpPr>
        <p:spPr>
          <a:xfrm>
            <a:off x="1104900" y="5467350"/>
            <a:ext cx="75819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GitHub Actions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0A2339-FAAD-4219-9C2C-16E12D541947}"/>
              </a:ext>
            </a:extLst>
          </p:cNvPr>
          <p:cNvSpPr>
            <a:spLocks noGrp="1"/>
          </p:cNvSpPr>
          <p:nvPr/>
        </p:nvSpPr>
        <p:spPr>
          <a:xfrm>
            <a:off x="1104900" y="6153150"/>
            <a:ext cx="7581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Jest checks and Docker smoke test</a:t>
            </a:r>
          </a:p>
        </p:txBody>
      </p:sp>
      <p:sp>
        <p:nvSpPr>
          <p:cNvPr id="11" name="metric-Load">
            <a:extLst>
              <a:ext uri="{FF2B5EF4-FFF2-40B4-BE49-F238E27FC236}">
                <a16:creationId xmlns:a16="http://schemas.microsoft.com/office/drawing/2014/main" id="{DC9AE90A-F7AA-4046-ABAF-BDD7D0100B20}"/>
              </a:ext>
            </a:extLst>
          </p:cNvPr>
          <p:cNvSpPr>
            <a:spLocks noGrp="1"/>
          </p:cNvSpPr>
          <p:nvPr/>
        </p:nvSpPr>
        <p:spPr>
          <a:xfrm>
            <a:off x="838200" y="7164070"/>
            <a:ext cx="8105775" cy="2063750"/>
          </a:xfrm>
          <a:prstGeom prst="roundRect">
            <a:avLst>
              <a:gd name="adj" fmla="val 8308"/>
            </a:avLst>
          </a:prstGeom>
          <a:noFill/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113A2-C906-4EDA-B42D-0E0B555E93A4}"/>
              </a:ext>
            </a:extLst>
          </p:cNvPr>
          <p:cNvSpPr>
            <a:spLocks noGrp="1"/>
          </p:cNvSpPr>
          <p:nvPr/>
        </p:nvSpPr>
        <p:spPr>
          <a:xfrm>
            <a:off x="1104900" y="7391400"/>
            <a:ext cx="75819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LOAD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91D2A6-F364-4F6A-9E67-63AEDBDA0619}"/>
              </a:ext>
            </a:extLst>
          </p:cNvPr>
          <p:cNvSpPr>
            <a:spLocks noGrp="1"/>
          </p:cNvSpPr>
          <p:nvPr/>
        </p:nvSpPr>
        <p:spPr>
          <a:xfrm>
            <a:off x="1104900" y="7696200"/>
            <a:ext cx="75819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k6 stress + spike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77A2E2-B93A-4274-AEF4-708A3AEB7D4E}"/>
              </a:ext>
            </a:extLst>
          </p:cNvPr>
          <p:cNvSpPr>
            <a:spLocks noGrp="1"/>
          </p:cNvSpPr>
          <p:nvPr/>
        </p:nvSpPr>
        <p:spPr>
          <a:xfrm>
            <a:off x="1104900" y="8382000"/>
            <a:ext cx="7581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Traffic patterns visible in Grafana</a:t>
            </a:r>
          </a:p>
        </p:txBody>
      </p:sp>
      <p:graphicFrame>
        <p:nvGraphicFramePr>
          <p:cNvPr id="15" name="stack-chart"/>
          <p:cNvGraphicFramePr/>
          <p:nvPr/>
        </p:nvGraphicFramePr>
        <p:xfrm>
          <a:off x="9344025" y="2693670"/>
          <a:ext cx="8105775" cy="653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footer-rule">
            <a:extLst>
              <a:ext uri="{FF2B5EF4-FFF2-40B4-BE49-F238E27FC236}">
                <a16:creationId xmlns:a16="http://schemas.microsoft.com/office/drawing/2014/main" id="{CF915506-EFDC-4E0D-AFCE-1B9C1185AFFD}"/>
              </a:ext>
            </a:extLst>
          </p:cNvPr>
          <p:cNvSpPr>
            <a:spLocks noGrp="1"/>
          </p:cNvSpPr>
          <p:nvPr/>
        </p:nvSpPr>
        <p:spPr>
          <a:xfrm>
            <a:off x="838200" y="9563100"/>
            <a:ext cx="1219200" cy="28575"/>
          </a:xfrm>
          <a:prstGeom prst="rect">
            <a:avLst/>
          </a:prstGeom>
          <a:solidFill>
            <a:srgbClr val="0284C7"/>
          </a:solidFill>
          <a:ln w="0">
            <a:solidFill>
              <a:srgbClr val="0284C7"/>
            </a:solidFill>
            <a:prstDash val="solid"/>
          </a:ln>
        </p:spPr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3027F26-EB3A-4021-8D04-AA131B965309}"/>
              </a:ext>
            </a:extLst>
          </p:cNvPr>
          <p:cNvSpPr>
            <a:spLocks noGrp="1"/>
          </p:cNvSpPr>
          <p:nvPr/>
        </p:nvSpPr>
        <p:spPr>
          <a:xfrm>
            <a:off x="2266950" y="9486900"/>
            <a:ext cx="15182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API Observability Platform</a:t>
            </a:r>
          </a:p>
        </p:txBody>
      </p:sp>
    </p:spTree>
    <p:extLst>
      <p:ext uri="{BB962C8B-B14F-4D97-AF65-F5344CB8AC3E}">
        <p14:creationId xmlns:p14="http://schemas.microsoft.com/office/powerpoint/2010/main" val="1698319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title">
            <a:extLst>
              <a:ext uri="{FF2B5EF4-FFF2-40B4-BE49-F238E27FC236}">
                <a16:creationId xmlns:a16="http://schemas.microsoft.com/office/drawing/2014/main" id="{96376CB6-9130-4F20-9B98-0363CAC54B9D}"/>
              </a:ext>
            </a:extLst>
          </p:cNvPr>
          <p:cNvSpPr>
            <a:spLocks noGrp="1"/>
          </p:cNvSpPr>
          <p:nvPr/>
        </p:nvSpPr>
        <p:spPr>
          <a:xfrm>
            <a:off x="838200" y="609600"/>
            <a:ext cx="601980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What this project proves</a:t>
            </a:r>
          </a:p>
        </p:txBody>
      </p:sp>
      <p:sp>
        <p:nvSpPr>
          <p:cNvPr id="2" name="slide-subtitle">
            <a:extLst>
              <a:ext uri="{FF2B5EF4-FFF2-40B4-BE49-F238E27FC236}">
                <a16:creationId xmlns:a16="http://schemas.microsoft.com/office/drawing/2014/main" id="{8B8CFDB1-F9D7-48A7-B92C-CF10DEF89E5E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119824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475569"/>
                </a:solidFill>
              </a:defRPr>
            </a:pPr>
            <a:r>
              <a:rPr sz="1875">
                <a:solidFill>
                  <a:srgbClr val="475569"/>
                </a:solidFill>
              </a:rPr>
              <a:t>A compact codebase can still demonstrate realistic reliability engineering: instrumentation, automated checks, observability, dashboards, and operational readiness.</a:t>
            </a:r>
          </a:p>
        </p:txBody>
      </p:sp>
      <p:sp>
        <p:nvSpPr>
          <p:cNvPr id="3" name="metric-Validated">
            <a:extLst>
              <a:ext uri="{FF2B5EF4-FFF2-40B4-BE49-F238E27FC236}">
                <a16:creationId xmlns:a16="http://schemas.microsoft.com/office/drawing/2014/main" id="{41DD7310-64F8-4689-A3B7-8757102947C1}"/>
              </a:ext>
            </a:extLst>
          </p:cNvPr>
          <p:cNvSpPr>
            <a:spLocks noGrp="1"/>
          </p:cNvSpPr>
          <p:nvPr/>
        </p:nvSpPr>
        <p:spPr>
          <a:xfrm>
            <a:off x="838200" y="2979420"/>
            <a:ext cx="5384800" cy="5204460"/>
          </a:xfrm>
          <a:prstGeom prst="roundRect">
            <a:avLst>
              <a:gd name="adj" fmla="val 3294"/>
            </a:avLst>
          </a:prstGeom>
          <a:noFill/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A3D41E-82DE-4A8C-9D75-931EF48FA312}"/>
              </a:ext>
            </a:extLst>
          </p:cNvPr>
          <p:cNvSpPr>
            <a:spLocks noGrp="1"/>
          </p:cNvSpPr>
          <p:nvPr/>
        </p:nvSpPr>
        <p:spPr>
          <a:xfrm>
            <a:off x="1104900" y="3200400"/>
            <a:ext cx="48577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VALIDATED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4BA981-5228-4079-B234-E6872E3D4700}"/>
              </a:ext>
            </a:extLst>
          </p:cNvPr>
          <p:cNvSpPr>
            <a:spLocks noGrp="1"/>
          </p:cNvSpPr>
          <p:nvPr/>
        </p:nvSpPr>
        <p:spPr>
          <a:xfrm>
            <a:off x="1104900" y="3505200"/>
            <a:ext cx="48577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7 Jest tests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B7BBBB-0974-428A-8F4E-38252D05811D}"/>
              </a:ext>
            </a:extLst>
          </p:cNvPr>
          <p:cNvSpPr>
            <a:spLocks noGrp="1"/>
          </p:cNvSpPr>
          <p:nvPr/>
        </p:nvSpPr>
        <p:spPr>
          <a:xfrm>
            <a:off x="1104900" y="4191000"/>
            <a:ext cx="48577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API contracts and metrics output</a:t>
            </a:r>
          </a:p>
        </p:txBody>
      </p:sp>
      <p:sp>
        <p:nvSpPr>
          <p:cNvPr id="7" name="metric-Synthetic">
            <a:extLst>
              <a:ext uri="{FF2B5EF4-FFF2-40B4-BE49-F238E27FC236}">
                <a16:creationId xmlns:a16="http://schemas.microsoft.com/office/drawing/2014/main" id="{8034FBDF-3296-43B1-88B5-ABF36EB8A1CF}"/>
              </a:ext>
            </a:extLst>
          </p:cNvPr>
          <p:cNvSpPr>
            <a:spLocks noGrp="1"/>
          </p:cNvSpPr>
          <p:nvPr/>
        </p:nvSpPr>
        <p:spPr>
          <a:xfrm>
            <a:off x="6451600" y="2979420"/>
            <a:ext cx="5384800" cy="5204460"/>
          </a:xfrm>
          <a:prstGeom prst="roundRect">
            <a:avLst>
              <a:gd name="adj" fmla="val 3294"/>
            </a:avLst>
          </a:prstGeom>
          <a:noFill/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55EFB9-529E-4276-9507-CE568B65D09C}"/>
              </a:ext>
            </a:extLst>
          </p:cNvPr>
          <p:cNvSpPr>
            <a:spLocks noGrp="1"/>
          </p:cNvSpPr>
          <p:nvPr/>
        </p:nvSpPr>
        <p:spPr>
          <a:xfrm>
            <a:off x="6724650" y="3200400"/>
            <a:ext cx="48577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0284C7"/>
                </a:solidFill>
              </a:defRPr>
            </a:pPr>
            <a:r>
              <a:rPr sz="1125" b="1">
                <a:solidFill>
                  <a:srgbClr val="0284C7"/>
                </a:solidFill>
              </a:rPr>
              <a:t>SYNTHETIC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A8D785-00D0-4639-BDA7-90B569C9B88F}"/>
              </a:ext>
            </a:extLst>
          </p:cNvPr>
          <p:cNvSpPr>
            <a:spLocks noGrp="1"/>
          </p:cNvSpPr>
          <p:nvPr/>
        </p:nvSpPr>
        <p:spPr>
          <a:xfrm>
            <a:off x="6724650" y="3505200"/>
            <a:ext cx="48577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0 failures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CC430D-968D-46FC-80D5-4439BBA33DA8}"/>
              </a:ext>
            </a:extLst>
          </p:cNvPr>
          <p:cNvSpPr>
            <a:spLocks noGrp="1"/>
          </p:cNvSpPr>
          <p:nvPr/>
        </p:nvSpPr>
        <p:spPr>
          <a:xfrm>
            <a:off x="6724650" y="4191000"/>
            <a:ext cx="48577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Newman SLA run with JSON summary</a:t>
            </a:r>
          </a:p>
        </p:txBody>
      </p:sp>
      <p:sp>
        <p:nvSpPr>
          <p:cNvPr id="11" name="metric-Ready">
            <a:extLst>
              <a:ext uri="{FF2B5EF4-FFF2-40B4-BE49-F238E27FC236}">
                <a16:creationId xmlns:a16="http://schemas.microsoft.com/office/drawing/2014/main" id="{239CEFFB-604F-4C54-9655-41283D986938}"/>
              </a:ext>
            </a:extLst>
          </p:cNvPr>
          <p:cNvSpPr>
            <a:spLocks noGrp="1"/>
          </p:cNvSpPr>
          <p:nvPr/>
        </p:nvSpPr>
        <p:spPr>
          <a:xfrm>
            <a:off x="12065000" y="2979420"/>
            <a:ext cx="5384800" cy="5204460"/>
          </a:xfrm>
          <a:prstGeom prst="roundRect">
            <a:avLst>
              <a:gd name="adj" fmla="val 3294"/>
            </a:avLst>
          </a:prstGeom>
          <a:noFill/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7CA780-7B98-4BDC-B6F7-2C9D70506F6F}"/>
              </a:ext>
            </a:extLst>
          </p:cNvPr>
          <p:cNvSpPr>
            <a:spLocks noGrp="1"/>
          </p:cNvSpPr>
          <p:nvPr/>
        </p:nvSpPr>
        <p:spPr>
          <a:xfrm>
            <a:off x="12325350" y="3200400"/>
            <a:ext cx="48577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READY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DDABBC-B72E-4345-9046-545792FF4482}"/>
              </a:ext>
            </a:extLst>
          </p:cNvPr>
          <p:cNvSpPr>
            <a:spLocks noGrp="1"/>
          </p:cNvSpPr>
          <p:nvPr/>
        </p:nvSpPr>
        <p:spPr>
          <a:xfrm>
            <a:off x="12325350" y="3505200"/>
            <a:ext cx="48577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Portfolio-quality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8117FB-7878-4F1B-B96D-0DD7D4870F14}"/>
              </a:ext>
            </a:extLst>
          </p:cNvPr>
          <p:cNvSpPr>
            <a:spLocks noGrp="1"/>
          </p:cNvSpPr>
          <p:nvPr/>
        </p:nvSpPr>
        <p:spPr>
          <a:xfrm>
            <a:off x="12325350" y="4191000"/>
            <a:ext cx="48577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Readable architecture and polished docs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D7E879-1B18-46F1-9BF7-FF4A98281F4D}"/>
              </a:ext>
            </a:extLst>
          </p:cNvPr>
          <p:cNvSpPr>
            <a:spLocks noGrp="1"/>
          </p:cNvSpPr>
          <p:nvPr/>
        </p:nvSpPr>
        <p:spPr>
          <a:xfrm>
            <a:off x="838200" y="8412480"/>
            <a:ext cx="16611600" cy="815340"/>
          </a:xfrm>
          <a:prstGeom prst="roundRect">
            <a:avLst>
              <a:gd name="adj" fmla="val 23364"/>
            </a:avLst>
          </a:prstGeom>
          <a:noFill/>
        </p:spPr>
      </p:sp>
      <p:sp>
        <p:nvSpPr>
          <p:cNvPr id="17" name="footer-rule">
            <a:extLst>
              <a:ext uri="{FF2B5EF4-FFF2-40B4-BE49-F238E27FC236}">
                <a16:creationId xmlns:a16="http://schemas.microsoft.com/office/drawing/2014/main" id="{2FA90B8C-1AA0-4411-B541-ACCCCD28392B}"/>
              </a:ext>
            </a:extLst>
          </p:cNvPr>
          <p:cNvSpPr>
            <a:spLocks noGrp="1"/>
          </p:cNvSpPr>
          <p:nvPr/>
        </p:nvSpPr>
        <p:spPr>
          <a:xfrm>
            <a:off x="838200" y="9563100"/>
            <a:ext cx="1219200" cy="28575"/>
          </a:xfrm>
          <a:prstGeom prst="rect">
            <a:avLst/>
          </a:prstGeom>
          <a:solidFill>
            <a:srgbClr val="0284C7"/>
          </a:solidFill>
          <a:ln w="0">
            <a:solidFill>
              <a:srgbClr val="0284C7"/>
            </a:solidFill>
            <a:prstDash val="solid"/>
          </a:ln>
        </p:spPr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2B969549-1351-4F04-8796-F1DD5D132B5F}"/>
              </a:ext>
            </a:extLst>
          </p:cNvPr>
          <p:cNvSpPr>
            <a:spLocks noGrp="1"/>
          </p:cNvSpPr>
          <p:nvPr/>
        </p:nvSpPr>
        <p:spPr>
          <a:xfrm>
            <a:off x="2266950" y="9486900"/>
            <a:ext cx="15182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API Observability Platform</a:t>
            </a:r>
          </a:p>
        </p:txBody>
      </p:sp>
    </p:spTree>
    <p:extLst>
      <p:ext uri="{BB962C8B-B14F-4D97-AF65-F5344CB8AC3E}">
        <p14:creationId xmlns:p14="http://schemas.microsoft.com/office/powerpoint/2010/main" val="9285676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</Words>
  <Application>Microsoft Office PowerPoint</Application>
  <DocSecurity>0</DocSecurity>
  <PresentationFormat>Custom</PresentationFormat>
  <Paragraphs>113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Abel Seyoum</cp:lastModifiedBy>
  <cp:revision>1</cp:revision>
  <dcterms:created xsi:type="dcterms:W3CDTF">2026-05-07T09:18:13Z</dcterms:created>
  <dcterms:modified xsi:type="dcterms:W3CDTF">2026-05-07T14:08:46Z</dcterms:modified>
</cp:coreProperties>
</file>